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a:t>
            </a:r>
          </a:p>
          <a:p>
            <a:r>
              <a:t>Buenos días, profe. Somos Aarón, Mónica y Eduardo, y les presentamos la Actividad 3 de MARLUP, nuestra plataforma de lanzamiento marino. En esta actividad tomamos el controlador de posición de uno de los actuadores hidráulicos y lo pusimos a correr en un microcontrolador real, un Arduino UNO, con la técnica Processor-in-the-Loop.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1:20]</a:t>
            </a:r>
          </a:p>
          <a:p>
            <a:r>
              <a:t>Primero, recordemos el reto. MARLUP tiene que mantener la mesa nivelada sobre el mar, con olas de medio metro de altura significativa y un periodo de 10 segundos. La especificación es un error de menos de 0.2 grados. Como la mesa tiene 65 centímetros de radio, 0.2 grados equivalen a unos 2.3 milímetros de altura en el borde. Ese es el número que manda: cada actuador tiene que llegar a su posición con un error en estado estacionario menor a 2.3 milímetros, y además pedimos un sobrepaso menor al 10 por ciento.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2:20]</a:t>
            </a:r>
          </a:p>
          <a:p>
            <a:r>
              <a:t>¿Por qué PiL? En la Actividad 2 diseñamos el PI y lo validamos en MiL, Model-in-the-Loop, donde todo, la planta y el controlador, corre en la PC con aritmética de doble precisión. Pero el controlador final no va a correr en una PC: va a correr en un microcontrolador, con otra aritmética, otro compilador y otra forma de recibir los datos. El PiL es el paso intermedio: la planta se sigue simulando en la PC y el controlador corre en el procesador real. Si los resultados coinciden con el MiL, sabemos que el código del controlador se comporta igual en el hardware. Después vendría el Hardware-in-the-Loop o la planta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 3:20]</a:t>
            </a:r>
          </a:p>
          <a:p>
            <a:r>
              <a:t>Esta es la metodología que seguimos, en cinco pasos. Uno: partimos del PI de la Actividad 2, con Kp de 60 y Ki de 1, discretizado con Tustin a 10 milisegundos, con saturación y anti-windup. Dos: corrimos el MiL como referencia. Tres: llevamos ese mismo PI al Arduino, y lo hicimos de dos formas, que les mostramos en un momento. Cuatro: agregamos al lazo las no idealidades del sensor de posición. Y cinco: corrimos seis casos con el mismo escalón de 0 a 400 milímetros y los comparamos con las mismas métricas: el MiL, el PiL ideal, cada no idealidad por separado y las tres juntas.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 4:15]</a:t>
            </a:r>
          </a:p>
          <a:p>
            <a:r>
              <a:t>Así se ve el montaje. En la PC, Simulink simula la planta hidráulica: el cilindro Rexroth CDH1 con su válvula proporcional, a 160 bar. También simula el sensor de posición. Cada 10 milisegundos, Simulink le manda al Arduino la posición medida y la referencia por USB, a 115200 baudios. El Arduino calcula el PI y devuelve el comando de la válvula. Simulink espera esa respuesta antes de avanzar; eso es lo que se llama lockstep, y garantiza que cada comando corresponde exactamente a su muestra.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 5:30]</a:t>
            </a:r>
          </a:p>
          <a:p>
            <a:r>
              <a:t>Hicimos el PiL de dos formas. A la izquierda, el PIL oficial de Simulink. El controlador es un modelo aparte, ctrl_pi, que se referencia con un bloque Model en modo Processor-in-the-loop. Embedded Coder genera el código C, lo compila para el ATmega328P, lo carga al Arduino, y Simulink se encarga de la comunicación. Tuvimos que resolver detalles reales: por ejemplo, el AVR no admite double en la interfaz, así que la interfaz del controlador quedó en single. A la derecha, la versión con protocolo propio. Escribimos el PI a mano en el Arduino y diseñamos una trama de 6 bytes: un byte de inicio, la posición y la referencia en centésimas de milímetro, y un checksum XOR. Esta es una trama real de la demo: la posición es 299.71 milímetros y el Arduino responde un comando de 0.015. Esta segunda forma nos dejó ver y controlar cada byte, y es la que usamos en la demostración.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 – 6:25]</a:t>
            </a:r>
          </a:p>
          <a:p>
            <a:r>
              <a:t>Un PiL ideal no basta, porque el sensor real no es perfecto. Modelamos tres efectos con valores de las hojas de datos. El error de linealidad del sensor integrado en el cilindro, de más o menos 0.09 milímetros, como un sesgo constante. La histéresis, de 0.004 milímetros, como una banda muerta. Y la cuantización del ADC de 10 bits del Arduino: 450 milímetros de carrera entre 1024 niveles da 0.44 milímetros por cuenta. En el modelo se aplican en ese orden, y probamos cada uno por separado y los tres juntos.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[6:25 – 7:20]</a:t>
            </a:r>
          </a:p>
          <a:p>
            <a:r>
              <a:t>El primer resultado es la verificación. Aquí está el escalón a 400 milímetros: la línea gruesa es el MiL y las punteadas son las dos versiones del PiL, y quedan una encima de la otra. Sobrepaso de 3.4 por ciento y tiempo de asentamiento de 1.05 segundos en los tres. Con el PIL de Simulink, la respuesta es idéntica al MiL, diferencia cero. Con el protocolo propio la diferencia es de 0.0036 milímetros RMS, que viene de transmitir la posición en centésimas de milímetro y de que el Arduino calcula en precisión simple. O sea: el controlador se comporta en el microcontrolador igual que en la simulación.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[7:20 – 8:30]</a:t>
            </a:r>
          </a:p>
          <a:p>
            <a:r>
              <a:t>Ahora con las no idealidades. A la izquierda, el detalle cerca de 400 milímetros, ya asentado. La cuantización del ADC es la que más se nota: deja una pequeña oscilación de una cuenta alrededor de la referencia. El error de linealidad corre el valor final unas centésimas de milímetro. A la derecha está el error en estado estacionario de los seis casos, en las dos implementaciones, contra el límite de 2.3 milímetros. El peor caso es 0.076 milímetros, unas 30 veces por debajo del límite, y el sobrepaso máximo fue 3.47 por ciento contra el 10 permitido. Los seis casos cumplen en las dos implementaciones.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 – 9:25]</a:t>
            </a:r>
          </a:p>
          <a:p>
            <a:r>
              <a:t>Para la demo usamos la versión con protocolo propio y un tablero en vivo. La referencia hace tres escalones, a 400, 150 y 300 milímetros, con las tres no idealidades activas. En el panel derecho se ven las tramas en hexadecimal. A los 7 segundos mandamos a propósito una trama con el checksum dañado: el Arduino la detecta, responde estado 1, mantiene el último comando, y el sistema sigue estable. En total fueron 2005 tramas en las corridas sin un solo error. El tiempo de ida y vuelta promedio fue de 13 milisegundos, un poco más que el periodo de muestreo; por eso usamos lockstep, así el resultado no depende de la latencia del USB.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[9:25 – 10:00]</a:t>
            </a:r>
          </a:p>
          <a:p>
            <a:r>
              <a:t>En resumen: el PI corre en un microcontrolador de 8 bits y responde igual que en el MiL, y lo comprobamos con dos implementaciones independientes. Con las no idealidades del sensor cumple los requisitos con mucho margen. Lo siguiente es conectar este PiL al modelo completo de la plataforma en Simscape, que ya está en curso, y pasar a los tres lazos en el mismo Arduino: la trama crece a 24 bytes por paso, unos 2 milisegundos, y sigue cabiendo en los 10 milisegundos. Muchas 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pic>
        <p:nvPicPr>
          <p:cNvPr id="2" name="Picture 1" descr="marlup_render.jpg"/>
          <p:cNvPicPr>
            <a:picLocks noChangeAspect="1"/>
          </p:cNvPicPr>
          <p:nvPr/>
        </p:nvPicPr>
        <p:blipFill>
          <a:blip r:embed="rId2"/>
          <a:stretch>
            <a:fillRect/>
          </a:stretch>
        </p:blipFill>
        <p:spPr>
          <a:xfrm>
            <a:off x="6720840" y="502920"/>
            <a:ext cx="6436491" cy="5852160"/>
          </a:xfrm>
          <a:prstGeom prst="rect">
            <a:avLst/>
          </a:prstGeom>
        </p:spPr>
      </p:pic>
      <p:sp>
        <p:nvSpPr>
          <p:cNvPr id="3" name="TextBox 2"/>
          <p:cNvSpPr txBox="1"/>
          <p:nvPr/>
        </p:nvSpPr>
        <p:spPr>
          <a:xfrm>
            <a:off x="685800" y="914400"/>
            <a:ext cx="5943600" cy="36576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EL5409 LABORATORIO DE CONTROL AUTOMÁTICO · II-2026 · ACTIVIDAD 3</a:t>
            </a:r>
          </a:p>
        </p:txBody>
      </p:sp>
      <p:sp>
        <p:nvSpPr>
          <p:cNvPr id="4" name="TextBox 3"/>
          <p:cNvSpPr txBox="1"/>
          <p:nvPr/>
        </p:nvSpPr>
        <p:spPr>
          <a:xfrm>
            <a:off x="685800" y="1417320"/>
            <a:ext cx="5943600" cy="365760"/>
          </a:xfrm>
          <a:prstGeom prst="rect">
            <a:avLst/>
          </a:prstGeom>
          <a:noFill/>
        </p:spPr>
        <p:txBody>
          <a:bodyPr wrap="square" anchor="t" lIns="0" rIns="0" tIns="0" bIns="0">
            <a:spAutoFit/>
          </a:bodyPr>
          <a:lstStyle/>
          <a:p>
            <a:pPr algn="l">
              <a:lnSpc>
                <a:spcPct val="110000"/>
              </a:lnSpc>
            </a:pPr>
            <a:r>
              <a:rPr sz="1600" b="1">
                <a:solidFill>
                  <a:srgbClr val="6C7D82"/>
                </a:solidFill>
                <a:latin typeface="Barlow Condensed"/>
              </a:rPr>
              <a:t>MARINE LAUNCH PLATFORM</a:t>
            </a:r>
          </a:p>
        </p:txBody>
      </p:sp>
      <p:sp>
        <p:nvSpPr>
          <p:cNvPr id="5" name="TextBox 4"/>
          <p:cNvSpPr txBox="1"/>
          <p:nvPr/>
        </p:nvSpPr>
        <p:spPr>
          <a:xfrm>
            <a:off x="640080" y="1691640"/>
            <a:ext cx="5943600" cy="1645920"/>
          </a:xfrm>
          <a:prstGeom prst="rect">
            <a:avLst/>
          </a:prstGeom>
          <a:noFill/>
        </p:spPr>
        <p:txBody>
          <a:bodyPr wrap="square" anchor="t" lIns="0" rIns="0" tIns="0" bIns="0">
            <a:spAutoFit/>
          </a:bodyPr>
          <a:lstStyle/>
          <a:p>
            <a:pPr algn="l">
              <a:lnSpc>
                <a:spcPct val="85000"/>
              </a:lnSpc>
            </a:pPr>
            <a:r>
              <a:rPr sz="11000" b="1">
                <a:solidFill>
                  <a:srgbClr val="0F2129"/>
                </a:solidFill>
                <a:latin typeface="Barlow Condensed"/>
              </a:rPr>
              <a:t>MARLUP</a:t>
            </a:r>
          </a:p>
        </p:txBody>
      </p:sp>
      <p:sp>
        <p:nvSpPr>
          <p:cNvPr id="6" name="TextBox 5"/>
          <p:cNvSpPr txBox="1"/>
          <p:nvPr/>
        </p:nvSpPr>
        <p:spPr>
          <a:xfrm>
            <a:off x="685800" y="3429000"/>
            <a:ext cx="5669280" cy="1097280"/>
          </a:xfrm>
          <a:prstGeom prst="rect">
            <a:avLst/>
          </a:prstGeom>
          <a:noFill/>
        </p:spPr>
        <p:txBody>
          <a:bodyPr wrap="square" anchor="t" lIns="0" rIns="0" tIns="0" bIns="0">
            <a:spAutoFit/>
          </a:bodyPr>
          <a:lstStyle/>
          <a:p>
            <a:pPr algn="l">
              <a:lnSpc>
                <a:spcPct val="100000"/>
              </a:lnSpc>
            </a:pPr>
            <a:r>
              <a:rPr sz="2800" b="1">
                <a:solidFill>
                  <a:srgbClr val="C8440D"/>
                </a:solidFill>
                <a:latin typeface="Barlow Condensed"/>
              </a:rPr>
              <a:t>Processor-in-the-Loop</a:t>
            </a:r>
            <a:r>
              <a:rPr sz="2800" b="0">
                <a:solidFill>
                  <a:srgbClr val="0F2129"/>
                </a:solidFill>
                <a:latin typeface="Barlow Condensed"/>
              </a:rPr>
              <a:t> del lazo de posición de un actuador hidráulico</a:t>
            </a:r>
          </a:p>
        </p:txBody>
      </p:sp>
      <p:sp>
        <p:nvSpPr>
          <p:cNvPr id="7" name="Rounded Rectangle 6"/>
          <p:cNvSpPr/>
          <p:nvPr/>
        </p:nvSpPr>
        <p:spPr>
          <a:xfrm>
            <a:off x="685800" y="4709160"/>
            <a:ext cx="73152" cy="1005840"/>
          </a:xfrm>
          <a:prstGeom prst="roundRect">
            <a:avLst>
              <a:gd name="adj" fmla="val 0"/>
            </a:avLst>
          </a:prstGeom>
          <a:solidFill>
            <a:srgbClr val="C844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709160"/>
            <a:ext cx="5486400" cy="1097280"/>
          </a:xfrm>
          <a:prstGeom prst="rect">
            <a:avLst/>
          </a:prstGeom>
          <a:noFill/>
        </p:spPr>
        <p:txBody>
          <a:bodyPr wrap="square" anchor="t" lIns="0" rIns="0" tIns="0" bIns="0">
            <a:spAutoFit/>
          </a:bodyPr>
          <a:lstStyle/>
          <a:p>
            <a:pPr algn="l">
              <a:lnSpc>
                <a:spcPct val="110000"/>
              </a:lnSpc>
            </a:pPr>
            <a:r>
              <a:rPr sz="1600" b="0">
                <a:solidFill>
                  <a:srgbClr val="44575D"/>
                </a:solidFill>
                <a:latin typeface="Barlow"/>
              </a:rPr>
              <a:t>Aarón Salas Alvarado · Mónica Solís Murillo · Eduardo Valle Arriola</a:t>
            </a:r>
          </a:p>
          <a:p>
            <a:pPr algn="l">
              <a:lnSpc>
                <a:spcPct val="110000"/>
              </a:lnSpc>
            </a:pPr>
            <a:r>
              <a:rPr sz="1600" b="0">
                <a:solidFill>
                  <a:srgbClr val="44575D"/>
                </a:solidFill>
                <a:latin typeface="Barlow"/>
              </a:rPr>
              <a:t>Prof. Adolfo Chaves Jiménez · Tecnológico de Costa Rica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EL RETO</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Mantener la mesa nivelada sobre el mar</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2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pic>
        <p:nvPicPr>
          <p:cNvPr id="6" name="Picture 5" descr="marlup_render.jpg"/>
          <p:cNvPicPr>
            <a:picLocks noChangeAspect="1"/>
          </p:cNvPicPr>
          <p:nvPr/>
        </p:nvPicPr>
        <p:blipFill>
          <a:blip r:embed="rId2"/>
          <a:stretch>
            <a:fillRect/>
          </a:stretch>
        </p:blipFill>
        <p:spPr>
          <a:xfrm>
            <a:off x="685800" y="1691640"/>
            <a:ext cx="4726798" cy="4297680"/>
          </a:xfrm>
          <a:prstGeom prst="rect">
            <a:avLst/>
          </a:prstGeom>
        </p:spPr>
      </p:pic>
      <p:cxnSp>
        <p:nvCxnSpPr>
          <p:cNvPr id="7" name="Connector 6"/>
          <p:cNvCxnSpPr/>
          <p:nvPr/>
        </p:nvCxnSpPr>
        <p:spPr>
          <a:xfrm>
            <a:off x="5760720" y="4206240"/>
            <a:ext cx="5486400" cy="0"/>
          </a:xfrm>
          <a:prstGeom prst="line">
            <a:avLst/>
          </a:prstGeom>
          <a:ln w="25400">
            <a:solidFill>
              <a:srgbClr val="C7D1CF"/>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760720" y="3246120"/>
            <a:ext cx="5486400" cy="960120"/>
          </a:xfrm>
          <a:prstGeom prst="line">
            <a:avLst/>
          </a:prstGeom>
          <a:ln w="114300">
            <a:solidFill>
              <a:srgbClr val="0F21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475720" y="3246120"/>
            <a:ext cx="0" cy="960120"/>
          </a:xfrm>
          <a:prstGeom prst="line">
            <a:avLst/>
          </a:prstGeom>
          <a:ln w="31750">
            <a:solidFill>
              <a:srgbClr val="C8440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612880" y="3520440"/>
            <a:ext cx="548640" cy="365760"/>
          </a:xfrm>
          <a:prstGeom prst="rect">
            <a:avLst/>
          </a:prstGeom>
          <a:noFill/>
        </p:spPr>
        <p:txBody>
          <a:bodyPr wrap="square" anchor="t" lIns="0" rIns="0" tIns="0" bIns="0">
            <a:spAutoFit/>
          </a:bodyPr>
          <a:lstStyle/>
          <a:p>
            <a:pPr algn="l">
              <a:lnSpc>
                <a:spcPct val="110000"/>
              </a:lnSpc>
            </a:pPr>
            <a:r>
              <a:rPr sz="1800" b="0">
                <a:solidFill>
                  <a:srgbClr val="C8440D"/>
                </a:solidFill>
                <a:latin typeface="Roboto Mono"/>
              </a:rPr>
              <a:t>Δz</a:t>
            </a:r>
          </a:p>
        </p:txBody>
      </p:sp>
      <p:sp>
        <p:nvSpPr>
          <p:cNvPr id="11" name="TextBox 10"/>
          <p:cNvSpPr txBox="1"/>
          <p:nvPr/>
        </p:nvSpPr>
        <p:spPr>
          <a:xfrm>
            <a:off x="6400800" y="3886200"/>
            <a:ext cx="914400" cy="365760"/>
          </a:xfrm>
          <a:prstGeom prst="rect">
            <a:avLst/>
          </a:prstGeom>
          <a:noFill/>
        </p:spPr>
        <p:txBody>
          <a:bodyPr wrap="square" anchor="t" lIns="0" rIns="0" tIns="0" bIns="0">
            <a:spAutoFit/>
          </a:bodyPr>
          <a:lstStyle/>
          <a:p>
            <a:pPr algn="l">
              <a:lnSpc>
                <a:spcPct val="110000"/>
              </a:lnSpc>
            </a:pPr>
            <a:r>
              <a:rPr sz="2000" b="0">
                <a:solidFill>
                  <a:srgbClr val="C8440D"/>
                </a:solidFill>
                <a:latin typeface="Roboto Mono"/>
              </a:rPr>
              <a:t>θ</a:t>
            </a:r>
          </a:p>
        </p:txBody>
      </p:sp>
      <p:cxnSp>
        <p:nvCxnSpPr>
          <p:cNvPr id="12" name="Connector 11"/>
          <p:cNvCxnSpPr/>
          <p:nvPr/>
        </p:nvCxnSpPr>
        <p:spPr>
          <a:xfrm>
            <a:off x="5760720" y="4526280"/>
            <a:ext cx="5486400" cy="0"/>
          </a:xfrm>
          <a:prstGeom prst="line">
            <a:avLst/>
          </a:prstGeom>
          <a:ln w="15875">
            <a:solidFill>
              <a:srgbClr val="6C7D8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760720" y="4617720"/>
            <a:ext cx="5486400" cy="320040"/>
          </a:xfrm>
          <a:prstGeom prst="rect">
            <a:avLst/>
          </a:prstGeom>
          <a:noFill/>
        </p:spPr>
        <p:txBody>
          <a:bodyPr wrap="square" anchor="t" lIns="0" rIns="0" tIns="0" bIns="0">
            <a:spAutoFit/>
          </a:bodyPr>
          <a:lstStyle/>
          <a:p>
            <a:pPr algn="ctr">
              <a:lnSpc>
                <a:spcPct val="110000"/>
              </a:lnSpc>
            </a:pPr>
            <a:r>
              <a:rPr sz="1400" b="0">
                <a:solidFill>
                  <a:srgbClr val="6C7D82"/>
                </a:solidFill>
                <a:latin typeface="Barlow"/>
              </a:rPr>
              <a:t>Radio de la mesa  Rt = 0.65 m</a:t>
            </a:r>
          </a:p>
        </p:txBody>
      </p:sp>
      <p:sp>
        <p:nvSpPr>
          <p:cNvPr id="14" name="TextBox 13"/>
          <p:cNvSpPr txBox="1"/>
          <p:nvPr/>
        </p:nvSpPr>
        <p:spPr>
          <a:xfrm>
            <a:off x="5760720" y="1783080"/>
            <a:ext cx="2743200" cy="365760"/>
          </a:xfrm>
          <a:prstGeom prst="rect">
            <a:avLst/>
          </a:prstGeom>
          <a:noFill/>
        </p:spPr>
        <p:txBody>
          <a:bodyPr wrap="square" anchor="t" lIns="0" rIns="0" tIns="0" bIns="0">
            <a:spAutoFit/>
          </a:bodyPr>
          <a:lstStyle/>
          <a:p>
            <a:pPr algn="l">
              <a:lnSpc>
                <a:spcPct val="110000"/>
              </a:lnSpc>
            </a:pPr>
            <a:r>
              <a:rPr sz="1300" b="1">
                <a:solidFill>
                  <a:srgbClr val="6C7D82"/>
                </a:solidFill>
                <a:latin typeface="Barlow Condensed"/>
              </a:rPr>
              <a:t>OLEAJE</a:t>
            </a:r>
          </a:p>
        </p:txBody>
      </p:sp>
      <p:sp>
        <p:nvSpPr>
          <p:cNvPr id="15" name="TextBox 14"/>
          <p:cNvSpPr txBox="1"/>
          <p:nvPr/>
        </p:nvSpPr>
        <p:spPr>
          <a:xfrm>
            <a:off x="5760720" y="2103120"/>
            <a:ext cx="2743200" cy="548640"/>
          </a:xfrm>
          <a:prstGeom prst="rect">
            <a:avLst/>
          </a:prstGeom>
          <a:noFill/>
        </p:spPr>
        <p:txBody>
          <a:bodyPr wrap="square" anchor="t" lIns="0" rIns="0" tIns="0" bIns="0">
            <a:spAutoFit/>
          </a:bodyPr>
          <a:lstStyle/>
          <a:p>
            <a:pPr algn="l">
              <a:lnSpc>
                <a:spcPct val="110000"/>
              </a:lnSpc>
            </a:pPr>
            <a:r>
              <a:rPr sz="2200" b="1">
                <a:solidFill>
                  <a:srgbClr val="0F2129"/>
                </a:solidFill>
                <a:latin typeface="Barlow Condensed"/>
              </a:rPr>
              <a:t>Hs = 0.5 m · Tp = 10 s</a:t>
            </a:r>
          </a:p>
        </p:txBody>
      </p:sp>
      <p:sp>
        <p:nvSpPr>
          <p:cNvPr id="16" name="TextBox 15"/>
          <p:cNvSpPr txBox="1"/>
          <p:nvPr/>
        </p:nvSpPr>
        <p:spPr>
          <a:xfrm>
            <a:off x="8595360" y="1783080"/>
            <a:ext cx="2926080" cy="365760"/>
          </a:xfrm>
          <a:prstGeom prst="rect">
            <a:avLst/>
          </a:prstGeom>
          <a:noFill/>
        </p:spPr>
        <p:txBody>
          <a:bodyPr wrap="square" anchor="t" lIns="0" rIns="0" tIns="0" bIns="0">
            <a:spAutoFit/>
          </a:bodyPr>
          <a:lstStyle/>
          <a:p>
            <a:pPr algn="l">
              <a:lnSpc>
                <a:spcPct val="110000"/>
              </a:lnSpc>
            </a:pPr>
            <a:r>
              <a:rPr sz="1300" b="1">
                <a:solidFill>
                  <a:srgbClr val="6C7D82"/>
                </a:solidFill>
                <a:latin typeface="Barlow Condensed"/>
              </a:rPr>
              <a:t>ERROR PERMITIDO</a:t>
            </a:r>
          </a:p>
        </p:txBody>
      </p:sp>
      <p:sp>
        <p:nvSpPr>
          <p:cNvPr id="17" name="TextBox 16"/>
          <p:cNvSpPr txBox="1"/>
          <p:nvPr/>
        </p:nvSpPr>
        <p:spPr>
          <a:xfrm>
            <a:off x="8595360" y="1965960"/>
            <a:ext cx="3108960" cy="914400"/>
          </a:xfrm>
          <a:prstGeom prst="rect">
            <a:avLst/>
          </a:prstGeom>
          <a:noFill/>
        </p:spPr>
        <p:txBody>
          <a:bodyPr wrap="square" anchor="t" lIns="0" rIns="0" tIns="0" bIns="0">
            <a:spAutoFit/>
          </a:bodyPr>
          <a:lstStyle/>
          <a:p>
            <a:pPr algn="l">
              <a:lnSpc>
                <a:spcPct val="110000"/>
              </a:lnSpc>
            </a:pPr>
            <a:r>
              <a:rPr sz="4000" b="1">
                <a:solidFill>
                  <a:srgbClr val="0F2129"/>
                </a:solidFill>
                <a:latin typeface="Barlow Condensed"/>
              </a:rPr>
              <a:t>0.2°</a:t>
            </a:r>
            <a:r>
              <a:rPr sz="4000" b="1">
                <a:solidFill>
                  <a:srgbClr val="6C7D82"/>
                </a:solidFill>
                <a:latin typeface="Barlow Condensed"/>
              </a:rPr>
              <a:t> → </a:t>
            </a:r>
            <a:r>
              <a:rPr sz="4000" b="1">
                <a:solidFill>
                  <a:srgbClr val="C8440D"/>
                </a:solidFill>
                <a:latin typeface="Barlow Condensed"/>
              </a:rPr>
              <a:t>2.3 mm</a:t>
            </a:r>
          </a:p>
        </p:txBody>
      </p:sp>
      <p:sp>
        <p:nvSpPr>
          <p:cNvPr id="18" name="Rounded Rectangle 17"/>
          <p:cNvSpPr/>
          <p:nvPr/>
        </p:nvSpPr>
        <p:spPr>
          <a:xfrm>
            <a:off x="5760720" y="5212080"/>
            <a:ext cx="2743200" cy="566928"/>
          </a:xfrm>
          <a:prstGeom prst="roundRect">
            <a:avLst>
              <a:gd name="adj" fmla="val 50000"/>
            </a:avLst>
          </a:prstGeom>
          <a:solidFill>
            <a:srgbClr val="FFFFFF"/>
          </a:solidFill>
          <a:ln w="19050">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0">
                <a:solidFill>
                  <a:srgbClr val="0F2129"/>
                </a:solidFill>
                <a:latin typeface="Roboto Mono"/>
              </a:rPr>
              <a:t>e</a:t>
            </a:r>
            <a:r>
              <a:rPr sz="1200" b="0">
                <a:solidFill>
                  <a:srgbClr val="0F2129"/>
                </a:solidFill>
                <a:latin typeface="Roboto Mono"/>
              </a:rPr>
              <a:t>ss</a:t>
            </a:r>
            <a:r>
              <a:rPr sz="1900" b="0">
                <a:solidFill>
                  <a:srgbClr val="0F2129"/>
                </a:solidFill>
                <a:latin typeface="Roboto Mono"/>
              </a:rPr>
              <a:t>  &lt;  2.3 mm</a:t>
            </a:r>
          </a:p>
        </p:txBody>
      </p:sp>
      <p:sp>
        <p:nvSpPr>
          <p:cNvPr id="19" name="Rounded Rectangle 18"/>
          <p:cNvSpPr/>
          <p:nvPr/>
        </p:nvSpPr>
        <p:spPr>
          <a:xfrm>
            <a:off x="8732520" y="5212080"/>
            <a:ext cx="2377440" cy="566928"/>
          </a:xfrm>
          <a:prstGeom prst="roundRect">
            <a:avLst>
              <a:gd name="adj" fmla="val 50000"/>
            </a:avLst>
          </a:prstGeom>
          <a:solidFill>
            <a:srgbClr val="FFFFFF"/>
          </a:solidFill>
          <a:ln w="19050">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0">
                <a:solidFill>
                  <a:srgbClr val="0F2129"/>
                </a:solidFill>
                <a:latin typeface="Roboto Mono"/>
              </a:rPr>
              <a:t>Mp  &lt;  10 %</a:t>
            </a:r>
          </a:p>
        </p:txBody>
      </p:sp>
      <p:sp>
        <p:nvSpPr>
          <p:cNvPr id="20" name="TextBox 19"/>
          <p:cNvSpPr txBox="1"/>
          <p:nvPr/>
        </p:nvSpPr>
        <p:spPr>
          <a:xfrm>
            <a:off x="5760720" y="5870448"/>
            <a:ext cx="5943600" cy="365760"/>
          </a:xfrm>
          <a:prstGeom prst="rect">
            <a:avLst/>
          </a:prstGeom>
          <a:noFill/>
        </p:spPr>
        <p:txBody>
          <a:bodyPr wrap="square" anchor="t" lIns="0" rIns="0" tIns="0" bIns="0">
            <a:spAutoFit/>
          </a:bodyPr>
          <a:lstStyle/>
          <a:p>
            <a:pPr algn="l">
              <a:lnSpc>
                <a:spcPct val="110000"/>
              </a:lnSpc>
            </a:pPr>
            <a:r>
              <a:rPr sz="1300" b="0">
                <a:solidFill>
                  <a:srgbClr val="6C7D82"/>
                </a:solidFill>
                <a:latin typeface="Barlow"/>
              </a:rPr>
              <a:t>Requisitos para el lazo de cada actuador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QUÉ ES PIL</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Mismo controlador, ahora en el procesador real</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3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Rounded Rectangle 5"/>
          <p:cNvSpPr/>
          <p:nvPr/>
        </p:nvSpPr>
        <p:spPr>
          <a:xfrm>
            <a:off x="594360" y="1783080"/>
            <a:ext cx="3337560" cy="4251960"/>
          </a:xfrm>
          <a:prstGeom prst="roundRect">
            <a:avLst>
              <a:gd name="adj" fmla="val 4000"/>
            </a:avLst>
          </a:prstGeom>
          <a:solidFill>
            <a:srgbClr val="F6F8F7"/>
          </a:solidFill>
          <a:ln w="15875">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65960"/>
            <a:ext cx="2788920" cy="320040"/>
          </a:xfrm>
          <a:prstGeom prst="rect">
            <a:avLst/>
          </a:prstGeom>
          <a:noFill/>
        </p:spPr>
        <p:txBody>
          <a:bodyPr wrap="square" anchor="t" lIns="0" rIns="0" tIns="0" bIns="0">
            <a:spAutoFit/>
          </a:bodyPr>
          <a:lstStyle/>
          <a:p>
            <a:pPr algn="l">
              <a:lnSpc>
                <a:spcPct val="110000"/>
              </a:lnSpc>
            </a:pPr>
            <a:r>
              <a:rPr sz="1200" b="1">
                <a:solidFill>
                  <a:srgbClr val="6C7D82"/>
                </a:solidFill>
                <a:latin typeface="Barlow Condensed"/>
              </a:rPr>
              <a:t>ACTIVIDAD 2</a:t>
            </a:r>
          </a:p>
        </p:txBody>
      </p:sp>
      <p:sp>
        <p:nvSpPr>
          <p:cNvPr id="8" name="TextBox 7"/>
          <p:cNvSpPr txBox="1"/>
          <p:nvPr/>
        </p:nvSpPr>
        <p:spPr>
          <a:xfrm>
            <a:off x="868680" y="2240280"/>
            <a:ext cx="2788920" cy="548640"/>
          </a:xfrm>
          <a:prstGeom prst="rect">
            <a:avLst/>
          </a:prstGeom>
          <a:noFill/>
        </p:spPr>
        <p:txBody>
          <a:bodyPr wrap="square" anchor="t" lIns="0" rIns="0" tIns="0" bIns="0">
            <a:spAutoFit/>
          </a:bodyPr>
          <a:lstStyle/>
          <a:p>
            <a:pPr algn="l">
              <a:lnSpc>
                <a:spcPct val="110000"/>
              </a:lnSpc>
            </a:pPr>
            <a:r>
              <a:rPr sz="3400" b="1">
                <a:solidFill>
                  <a:srgbClr val="0F2129"/>
                </a:solidFill>
                <a:latin typeface="Barlow Condensed"/>
              </a:rPr>
              <a:t>MiL</a:t>
            </a:r>
          </a:p>
        </p:txBody>
      </p:sp>
      <p:sp>
        <p:nvSpPr>
          <p:cNvPr id="9" name="TextBox 8"/>
          <p:cNvSpPr txBox="1"/>
          <p:nvPr/>
        </p:nvSpPr>
        <p:spPr>
          <a:xfrm>
            <a:off x="868680" y="2788920"/>
            <a:ext cx="2788920" cy="3200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Model-in-the-Loop</a:t>
            </a:r>
          </a:p>
        </p:txBody>
      </p:sp>
      <p:sp>
        <p:nvSpPr>
          <p:cNvPr id="10" name="Rounded Rectangle 9"/>
          <p:cNvSpPr/>
          <p:nvPr/>
        </p:nvSpPr>
        <p:spPr>
          <a:xfrm>
            <a:off x="868680" y="3429000"/>
            <a:ext cx="1234440" cy="914400"/>
          </a:xfrm>
          <a:prstGeom prst="roundRect">
            <a:avLst>
              <a:gd name="adj" fmla="val 12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Planta</a:t>
            </a:r>
          </a:p>
          <a:p>
            <a:pPr algn="ctr"/>
            <a:r>
              <a:rPr sz="1100" b="0">
                <a:solidFill>
                  <a:srgbClr val="44575D"/>
                </a:solidFill>
                <a:latin typeface="Barlow"/>
              </a:rPr>
              <a:t>PC</a:t>
            </a:r>
          </a:p>
        </p:txBody>
      </p:sp>
      <p:sp>
        <p:nvSpPr>
          <p:cNvPr id="11" name="Rounded Rectangle 10"/>
          <p:cNvSpPr/>
          <p:nvPr/>
        </p:nvSpPr>
        <p:spPr>
          <a:xfrm>
            <a:off x="2423160" y="3429000"/>
            <a:ext cx="1234440" cy="914400"/>
          </a:xfrm>
          <a:prstGeom prst="roundRect">
            <a:avLst>
              <a:gd name="adj" fmla="val 12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PI</a:t>
            </a:r>
          </a:p>
          <a:p>
            <a:pPr algn="ctr"/>
            <a:r>
              <a:rPr sz="1100" b="0">
                <a:solidFill>
                  <a:srgbClr val="44575D"/>
                </a:solidFill>
                <a:latin typeface="Barlow"/>
              </a:rPr>
              <a:t>PC</a:t>
            </a:r>
          </a:p>
        </p:txBody>
      </p:sp>
      <p:cxnSp>
        <p:nvCxnSpPr>
          <p:cNvPr id="12" name="Connector 11"/>
          <p:cNvCxnSpPr/>
          <p:nvPr/>
        </p:nvCxnSpPr>
        <p:spPr>
          <a:xfrm>
            <a:off x="2103120" y="3703320"/>
            <a:ext cx="320040" cy="0"/>
          </a:xfrm>
          <a:prstGeom prst="line">
            <a:avLst/>
          </a:prstGeom>
          <a:ln w="22225">
            <a:solidFill>
              <a:srgbClr val="0F212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103120" y="4069080"/>
            <a:ext cx="320040" cy="0"/>
          </a:xfrm>
          <a:prstGeom prst="line">
            <a:avLst/>
          </a:prstGeom>
          <a:ln w="22225">
            <a:solidFill>
              <a:srgbClr val="0F212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1783080"/>
            <a:ext cx="3337560" cy="4251960"/>
          </a:xfrm>
          <a:prstGeom prst="roundRect">
            <a:avLst>
              <a:gd name="adj" fmla="val 4000"/>
            </a:avLst>
          </a:prstGeom>
          <a:solidFill>
            <a:srgbClr val="FFFFFF"/>
          </a:solidFill>
          <a:ln w="31750">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09159" y="1965960"/>
            <a:ext cx="2788920" cy="320040"/>
          </a:xfrm>
          <a:prstGeom prst="rect">
            <a:avLst/>
          </a:prstGeom>
          <a:noFill/>
        </p:spPr>
        <p:txBody>
          <a:bodyPr wrap="square" anchor="t" lIns="0" rIns="0" tIns="0" bIns="0">
            <a:spAutoFit/>
          </a:bodyPr>
          <a:lstStyle/>
          <a:p>
            <a:pPr algn="l">
              <a:lnSpc>
                <a:spcPct val="110000"/>
              </a:lnSpc>
            </a:pPr>
            <a:r>
              <a:rPr sz="1200" b="1">
                <a:solidFill>
                  <a:srgbClr val="C8440D"/>
                </a:solidFill>
                <a:latin typeface="Barlow Condensed"/>
              </a:rPr>
              <a:t>ACTIVIDAD 3</a:t>
            </a:r>
          </a:p>
        </p:txBody>
      </p:sp>
      <p:sp>
        <p:nvSpPr>
          <p:cNvPr id="16" name="TextBox 15"/>
          <p:cNvSpPr txBox="1"/>
          <p:nvPr/>
        </p:nvSpPr>
        <p:spPr>
          <a:xfrm>
            <a:off x="4709159" y="2240280"/>
            <a:ext cx="2788920" cy="548640"/>
          </a:xfrm>
          <a:prstGeom prst="rect">
            <a:avLst/>
          </a:prstGeom>
          <a:noFill/>
        </p:spPr>
        <p:txBody>
          <a:bodyPr wrap="square" anchor="t" lIns="0" rIns="0" tIns="0" bIns="0">
            <a:spAutoFit/>
          </a:bodyPr>
          <a:lstStyle/>
          <a:p>
            <a:pPr algn="l">
              <a:lnSpc>
                <a:spcPct val="110000"/>
              </a:lnSpc>
            </a:pPr>
            <a:r>
              <a:rPr sz="3400" b="1">
                <a:solidFill>
                  <a:srgbClr val="0F2129"/>
                </a:solidFill>
                <a:latin typeface="Barlow Condensed"/>
              </a:rPr>
              <a:t>PiL</a:t>
            </a:r>
          </a:p>
        </p:txBody>
      </p:sp>
      <p:sp>
        <p:nvSpPr>
          <p:cNvPr id="17" name="TextBox 16"/>
          <p:cNvSpPr txBox="1"/>
          <p:nvPr/>
        </p:nvSpPr>
        <p:spPr>
          <a:xfrm>
            <a:off x="4709159" y="2788920"/>
            <a:ext cx="2788920" cy="3200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Processor-in-the-Loop</a:t>
            </a:r>
          </a:p>
        </p:txBody>
      </p:sp>
      <p:sp>
        <p:nvSpPr>
          <p:cNvPr id="18" name="Rounded Rectangle 17"/>
          <p:cNvSpPr/>
          <p:nvPr/>
        </p:nvSpPr>
        <p:spPr>
          <a:xfrm>
            <a:off x="4709159" y="3429000"/>
            <a:ext cx="1234440" cy="914400"/>
          </a:xfrm>
          <a:prstGeom prst="roundRect">
            <a:avLst>
              <a:gd name="adj" fmla="val 12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Planta</a:t>
            </a:r>
          </a:p>
          <a:p>
            <a:pPr algn="ctr"/>
            <a:r>
              <a:rPr sz="1100" b="0">
                <a:solidFill>
                  <a:srgbClr val="44575D"/>
                </a:solidFill>
                <a:latin typeface="Barlow"/>
              </a:rPr>
              <a:t>PC</a:t>
            </a:r>
          </a:p>
        </p:txBody>
      </p:sp>
      <p:sp>
        <p:nvSpPr>
          <p:cNvPr id="19" name="Rounded Rectangle 18"/>
          <p:cNvSpPr/>
          <p:nvPr/>
        </p:nvSpPr>
        <p:spPr>
          <a:xfrm>
            <a:off x="6263640" y="3429000"/>
            <a:ext cx="1234440" cy="914400"/>
          </a:xfrm>
          <a:prstGeom prst="roundRect">
            <a:avLst>
              <a:gd name="adj" fmla="val 12000"/>
            </a:avLst>
          </a:prstGeom>
          <a:solidFill>
            <a:srgbClr val="F6D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PI</a:t>
            </a:r>
          </a:p>
          <a:p>
            <a:pPr algn="ctr"/>
            <a:r>
              <a:rPr sz="1100" b="0">
                <a:solidFill>
                  <a:srgbClr val="44575D"/>
                </a:solidFill>
                <a:latin typeface="Barlow"/>
              </a:rPr>
              <a:t>Arduino</a:t>
            </a:r>
          </a:p>
        </p:txBody>
      </p:sp>
      <p:cxnSp>
        <p:nvCxnSpPr>
          <p:cNvPr id="20" name="Connector 19"/>
          <p:cNvCxnSpPr/>
          <p:nvPr/>
        </p:nvCxnSpPr>
        <p:spPr>
          <a:xfrm>
            <a:off x="5943600" y="3703320"/>
            <a:ext cx="320040" cy="0"/>
          </a:xfrm>
          <a:prstGeom prst="line">
            <a:avLst/>
          </a:prstGeom>
          <a:ln w="22225">
            <a:solidFill>
              <a:srgbClr val="0F212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943600" y="4069080"/>
            <a:ext cx="320040" cy="0"/>
          </a:xfrm>
          <a:prstGeom prst="line">
            <a:avLst/>
          </a:prstGeom>
          <a:ln w="22225">
            <a:solidFill>
              <a:srgbClr val="C8440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5320" y="1783080"/>
            <a:ext cx="3337560" cy="4251960"/>
          </a:xfrm>
          <a:prstGeom prst="roundRect">
            <a:avLst>
              <a:gd name="adj" fmla="val 4000"/>
            </a:avLst>
          </a:prstGeom>
          <a:solidFill>
            <a:srgbClr val="F6F8F7"/>
          </a:solidFill>
          <a:ln w="15875">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49640" y="1965960"/>
            <a:ext cx="2788920" cy="320040"/>
          </a:xfrm>
          <a:prstGeom prst="rect">
            <a:avLst/>
          </a:prstGeom>
          <a:noFill/>
        </p:spPr>
        <p:txBody>
          <a:bodyPr wrap="square" anchor="t" lIns="0" rIns="0" tIns="0" bIns="0">
            <a:spAutoFit/>
          </a:bodyPr>
          <a:lstStyle/>
          <a:p>
            <a:pPr algn="l">
              <a:lnSpc>
                <a:spcPct val="110000"/>
              </a:lnSpc>
            </a:pPr>
            <a:r>
              <a:rPr sz="1200" b="1">
                <a:solidFill>
                  <a:srgbClr val="6C7D82"/>
                </a:solidFill>
                <a:latin typeface="Barlow Condensed"/>
              </a:rPr>
              <a:t>SIGUIENTE ETAPA</a:t>
            </a:r>
          </a:p>
        </p:txBody>
      </p:sp>
      <p:sp>
        <p:nvSpPr>
          <p:cNvPr id="24" name="TextBox 23"/>
          <p:cNvSpPr txBox="1"/>
          <p:nvPr/>
        </p:nvSpPr>
        <p:spPr>
          <a:xfrm>
            <a:off x="8549640" y="2240280"/>
            <a:ext cx="2788920" cy="548640"/>
          </a:xfrm>
          <a:prstGeom prst="rect">
            <a:avLst/>
          </a:prstGeom>
          <a:noFill/>
        </p:spPr>
        <p:txBody>
          <a:bodyPr wrap="square" anchor="t" lIns="0" rIns="0" tIns="0" bIns="0">
            <a:spAutoFit/>
          </a:bodyPr>
          <a:lstStyle/>
          <a:p>
            <a:pPr algn="l">
              <a:lnSpc>
                <a:spcPct val="110000"/>
              </a:lnSpc>
            </a:pPr>
            <a:r>
              <a:rPr sz="3400" b="1">
                <a:solidFill>
                  <a:srgbClr val="0F2129"/>
                </a:solidFill>
                <a:latin typeface="Barlow Condensed"/>
              </a:rPr>
              <a:t>HiL / real</a:t>
            </a:r>
          </a:p>
        </p:txBody>
      </p:sp>
      <p:sp>
        <p:nvSpPr>
          <p:cNvPr id="25" name="TextBox 24"/>
          <p:cNvSpPr txBox="1"/>
          <p:nvPr/>
        </p:nvSpPr>
        <p:spPr>
          <a:xfrm>
            <a:off x="8549640" y="2788920"/>
            <a:ext cx="2788920" cy="3200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Hardware-in-the-Loop</a:t>
            </a:r>
          </a:p>
        </p:txBody>
      </p:sp>
      <p:sp>
        <p:nvSpPr>
          <p:cNvPr id="26" name="Rounded Rectangle 25"/>
          <p:cNvSpPr/>
          <p:nvPr/>
        </p:nvSpPr>
        <p:spPr>
          <a:xfrm>
            <a:off x="8549640" y="3429000"/>
            <a:ext cx="1234440" cy="914400"/>
          </a:xfrm>
          <a:prstGeom prst="roundRect">
            <a:avLst>
              <a:gd name="adj" fmla="val 12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Planta</a:t>
            </a:r>
          </a:p>
          <a:p>
            <a:pPr algn="ctr"/>
            <a:r>
              <a:rPr sz="1100" b="0">
                <a:solidFill>
                  <a:srgbClr val="44575D"/>
                </a:solidFill>
                <a:latin typeface="Barlow"/>
              </a:rPr>
              <a:t>Cilindro real</a:t>
            </a:r>
          </a:p>
        </p:txBody>
      </p:sp>
      <p:sp>
        <p:nvSpPr>
          <p:cNvPr id="27" name="Rounded Rectangle 26"/>
          <p:cNvSpPr/>
          <p:nvPr/>
        </p:nvSpPr>
        <p:spPr>
          <a:xfrm>
            <a:off x="10104120" y="3429000"/>
            <a:ext cx="1234440" cy="914400"/>
          </a:xfrm>
          <a:prstGeom prst="roundRect">
            <a:avLst>
              <a:gd name="adj" fmla="val 12000"/>
            </a:avLst>
          </a:prstGeom>
          <a:solidFill>
            <a:srgbClr val="F6D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PI</a:t>
            </a:r>
          </a:p>
          <a:p>
            <a:pPr algn="ctr"/>
            <a:r>
              <a:rPr sz="1100" b="0">
                <a:solidFill>
                  <a:srgbClr val="44575D"/>
                </a:solidFill>
                <a:latin typeface="Barlow"/>
              </a:rPr>
              <a:t>Arduino</a:t>
            </a:r>
          </a:p>
        </p:txBody>
      </p:sp>
      <p:cxnSp>
        <p:nvCxnSpPr>
          <p:cNvPr id="28" name="Connector 27"/>
          <p:cNvCxnSpPr/>
          <p:nvPr/>
        </p:nvCxnSpPr>
        <p:spPr>
          <a:xfrm>
            <a:off x="9784080" y="3703320"/>
            <a:ext cx="320040" cy="0"/>
          </a:xfrm>
          <a:prstGeom prst="line">
            <a:avLst/>
          </a:prstGeom>
          <a:ln w="22225">
            <a:solidFill>
              <a:srgbClr val="0F212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784080" y="4069080"/>
            <a:ext cx="320040" cy="0"/>
          </a:xfrm>
          <a:prstGeom prst="line">
            <a:avLst/>
          </a:prstGeom>
          <a:ln w="22225">
            <a:solidFill>
              <a:srgbClr val="C8440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68680" y="4617720"/>
            <a:ext cx="2788920" cy="11887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Planta y control en la PC, en doble precisión.</a:t>
            </a:r>
          </a:p>
        </p:txBody>
      </p:sp>
      <p:sp>
        <p:nvSpPr>
          <p:cNvPr id="31" name="TextBox 30"/>
          <p:cNvSpPr txBox="1"/>
          <p:nvPr/>
        </p:nvSpPr>
        <p:spPr>
          <a:xfrm>
            <a:off x="4709159" y="4617720"/>
            <a:ext cx="2788920" cy="11887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La planta sigue en la PC. El PI corre en el ATmega328P de 8 bits.</a:t>
            </a:r>
          </a:p>
        </p:txBody>
      </p:sp>
      <p:sp>
        <p:nvSpPr>
          <p:cNvPr id="32" name="TextBox 31"/>
          <p:cNvSpPr txBox="1"/>
          <p:nvPr/>
        </p:nvSpPr>
        <p:spPr>
          <a:xfrm>
            <a:off x="8549640" y="4617720"/>
            <a:ext cx="2788920" cy="11887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El mismo PI controla el cilindro físico.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METODOLOGÍA</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Cinco pasos, del diseño a la comparación</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4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Oval 5"/>
          <p:cNvSpPr/>
          <p:nvPr/>
        </p:nvSpPr>
        <p:spPr>
          <a:xfrm>
            <a:off x="1280160" y="2011680"/>
            <a:ext cx="960120" cy="960120"/>
          </a:xfrm>
          <a:prstGeom prst="ellipse">
            <a:avLst/>
          </a:prstGeom>
          <a:solidFill>
            <a:srgbClr val="0F21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000" b="1">
                <a:solidFill>
                  <a:srgbClr val="FFFFFF"/>
                </a:solidFill>
                <a:latin typeface="Barlow Condensed"/>
              </a:rPr>
              <a:t>1</a:t>
            </a:r>
          </a:p>
        </p:txBody>
      </p:sp>
      <p:cxnSp>
        <p:nvCxnSpPr>
          <p:cNvPr id="7" name="Connector 6"/>
          <p:cNvCxnSpPr/>
          <p:nvPr/>
        </p:nvCxnSpPr>
        <p:spPr>
          <a:xfrm>
            <a:off x="2350008" y="2487168"/>
            <a:ext cx="1060704" cy="0"/>
          </a:xfrm>
          <a:prstGeom prst="line">
            <a:avLst/>
          </a:prstGeom>
          <a:ln w="25400">
            <a:solidFill>
              <a:srgbClr val="C7D1C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19" y="3200400"/>
            <a:ext cx="2057400" cy="822960"/>
          </a:xfrm>
          <a:prstGeom prst="rect">
            <a:avLst/>
          </a:prstGeom>
          <a:noFill/>
        </p:spPr>
        <p:txBody>
          <a:bodyPr wrap="square" anchor="t" lIns="0" rIns="0" tIns="0" bIns="0">
            <a:spAutoFit/>
          </a:bodyPr>
          <a:lstStyle/>
          <a:p>
            <a:pPr algn="ctr">
              <a:lnSpc>
                <a:spcPct val="95000"/>
              </a:lnSpc>
            </a:pPr>
            <a:r>
              <a:rPr sz="2100" b="1">
                <a:solidFill>
                  <a:srgbClr val="0F2129"/>
                </a:solidFill>
                <a:latin typeface="Barlow Condensed"/>
              </a:rPr>
              <a:t>Diseñar el PI</a:t>
            </a:r>
          </a:p>
        </p:txBody>
      </p:sp>
      <p:sp>
        <p:nvSpPr>
          <p:cNvPr id="9" name="TextBox 8"/>
          <p:cNvSpPr txBox="1"/>
          <p:nvPr/>
        </p:nvSpPr>
        <p:spPr>
          <a:xfrm>
            <a:off x="731519" y="4069080"/>
            <a:ext cx="2057400" cy="1463040"/>
          </a:xfrm>
          <a:prstGeom prst="rect">
            <a:avLst/>
          </a:prstGeom>
          <a:noFill/>
        </p:spPr>
        <p:txBody>
          <a:bodyPr wrap="square" anchor="t" lIns="0" rIns="0" tIns="0" bIns="0">
            <a:spAutoFit/>
          </a:bodyPr>
          <a:lstStyle/>
          <a:p>
            <a:pPr algn="ctr">
              <a:lnSpc>
                <a:spcPct val="105000"/>
              </a:lnSpc>
            </a:pPr>
            <a:r>
              <a:rPr sz="1400" b="0">
                <a:solidFill>
                  <a:srgbClr val="44575D"/>
                </a:solidFill>
                <a:latin typeface="Barlow"/>
              </a:rPr>
              <a:t>Kp = 60 · Ki = 1</a:t>
            </a:r>
          </a:p>
          <a:p>
            <a:pPr algn="ctr">
              <a:lnSpc>
                <a:spcPct val="105000"/>
              </a:lnSpc>
              <a:spcBef>
                <a:spcPts val="489"/>
              </a:spcBef>
            </a:pPr>
            <a:r>
              <a:rPr sz="1400" b="0">
                <a:solidFill>
                  <a:srgbClr val="44575D"/>
                </a:solidFill>
                <a:latin typeface="Barlow"/>
              </a:rPr>
              <a:t>Tustin, Ts = 10 ms</a:t>
            </a:r>
          </a:p>
          <a:p>
            <a:pPr algn="ctr">
              <a:lnSpc>
                <a:spcPct val="105000"/>
              </a:lnSpc>
              <a:spcBef>
                <a:spcPts val="489"/>
              </a:spcBef>
            </a:pPr>
            <a:r>
              <a:rPr sz="1400" b="0">
                <a:solidFill>
                  <a:srgbClr val="44575D"/>
                </a:solidFill>
                <a:latin typeface="Barlow"/>
              </a:rPr>
              <a:t>Saturación ±1 y anti-windup</a:t>
            </a:r>
          </a:p>
        </p:txBody>
      </p:sp>
      <p:sp>
        <p:nvSpPr>
          <p:cNvPr id="10" name="Oval 9"/>
          <p:cNvSpPr/>
          <p:nvPr/>
        </p:nvSpPr>
        <p:spPr>
          <a:xfrm>
            <a:off x="3520440" y="2011680"/>
            <a:ext cx="960120" cy="960120"/>
          </a:xfrm>
          <a:prstGeom prst="ellipse">
            <a:avLst/>
          </a:prstGeom>
          <a:solidFill>
            <a:srgbClr val="0F21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000" b="1">
                <a:solidFill>
                  <a:srgbClr val="FFFFFF"/>
                </a:solidFill>
                <a:latin typeface="Barlow Condensed"/>
              </a:rPr>
              <a:t>2</a:t>
            </a:r>
          </a:p>
        </p:txBody>
      </p:sp>
      <p:cxnSp>
        <p:nvCxnSpPr>
          <p:cNvPr id="11" name="Connector 10"/>
          <p:cNvCxnSpPr/>
          <p:nvPr/>
        </p:nvCxnSpPr>
        <p:spPr>
          <a:xfrm>
            <a:off x="4590288" y="2487168"/>
            <a:ext cx="1060704" cy="0"/>
          </a:xfrm>
          <a:prstGeom prst="line">
            <a:avLst/>
          </a:prstGeom>
          <a:ln w="25400">
            <a:solidFill>
              <a:srgbClr val="C7D1C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3200400"/>
            <a:ext cx="2057400" cy="822960"/>
          </a:xfrm>
          <a:prstGeom prst="rect">
            <a:avLst/>
          </a:prstGeom>
          <a:noFill/>
        </p:spPr>
        <p:txBody>
          <a:bodyPr wrap="square" anchor="t" lIns="0" rIns="0" tIns="0" bIns="0">
            <a:spAutoFit/>
          </a:bodyPr>
          <a:lstStyle/>
          <a:p>
            <a:pPr algn="ctr">
              <a:lnSpc>
                <a:spcPct val="95000"/>
              </a:lnSpc>
            </a:pPr>
            <a:r>
              <a:rPr sz="2100" b="1">
                <a:solidFill>
                  <a:srgbClr val="0F2129"/>
                </a:solidFill>
                <a:latin typeface="Barlow Condensed"/>
              </a:rPr>
              <a:t>Correr el MiL</a:t>
            </a:r>
          </a:p>
        </p:txBody>
      </p:sp>
      <p:sp>
        <p:nvSpPr>
          <p:cNvPr id="13" name="TextBox 12"/>
          <p:cNvSpPr txBox="1"/>
          <p:nvPr/>
        </p:nvSpPr>
        <p:spPr>
          <a:xfrm>
            <a:off x="2971800" y="4069080"/>
            <a:ext cx="2057400" cy="1463040"/>
          </a:xfrm>
          <a:prstGeom prst="rect">
            <a:avLst/>
          </a:prstGeom>
          <a:noFill/>
        </p:spPr>
        <p:txBody>
          <a:bodyPr wrap="square" anchor="t" lIns="0" rIns="0" tIns="0" bIns="0">
            <a:spAutoFit/>
          </a:bodyPr>
          <a:lstStyle/>
          <a:p>
            <a:pPr algn="ctr">
              <a:lnSpc>
                <a:spcPct val="105000"/>
              </a:lnSpc>
            </a:pPr>
            <a:r>
              <a:rPr sz="1400" b="0">
                <a:solidFill>
                  <a:srgbClr val="44575D"/>
                </a:solidFill>
                <a:latin typeface="Barlow"/>
              </a:rPr>
              <a:t>Respuesta de referencia</a:t>
            </a:r>
          </a:p>
          <a:p>
            <a:pPr algn="ctr">
              <a:lnSpc>
                <a:spcPct val="105000"/>
              </a:lnSpc>
              <a:spcBef>
                <a:spcPts val="489"/>
              </a:spcBef>
            </a:pPr>
            <a:r>
              <a:rPr sz="1400" b="0">
                <a:solidFill>
                  <a:srgbClr val="44575D"/>
                </a:solidFill>
                <a:latin typeface="Barlow"/>
              </a:rPr>
              <a:t>en la PC</a:t>
            </a:r>
          </a:p>
        </p:txBody>
      </p:sp>
      <p:sp>
        <p:nvSpPr>
          <p:cNvPr id="14" name="Oval 13"/>
          <p:cNvSpPr/>
          <p:nvPr/>
        </p:nvSpPr>
        <p:spPr>
          <a:xfrm>
            <a:off x="5760720" y="2011680"/>
            <a:ext cx="960120" cy="960120"/>
          </a:xfrm>
          <a:prstGeom prst="ellipse">
            <a:avLst/>
          </a:prstGeom>
          <a:solidFill>
            <a:srgbClr val="C844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000" b="1">
                <a:solidFill>
                  <a:srgbClr val="FFFFFF"/>
                </a:solidFill>
                <a:latin typeface="Barlow Condensed"/>
              </a:rPr>
              <a:t>3</a:t>
            </a:r>
          </a:p>
        </p:txBody>
      </p:sp>
      <p:cxnSp>
        <p:nvCxnSpPr>
          <p:cNvPr id="15" name="Connector 14"/>
          <p:cNvCxnSpPr/>
          <p:nvPr/>
        </p:nvCxnSpPr>
        <p:spPr>
          <a:xfrm>
            <a:off x="6830568" y="2487168"/>
            <a:ext cx="1060703" cy="0"/>
          </a:xfrm>
          <a:prstGeom prst="line">
            <a:avLst/>
          </a:prstGeom>
          <a:ln w="25400">
            <a:solidFill>
              <a:srgbClr val="C7D1C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0" y="3200400"/>
            <a:ext cx="2057400" cy="822960"/>
          </a:xfrm>
          <a:prstGeom prst="rect">
            <a:avLst/>
          </a:prstGeom>
          <a:noFill/>
        </p:spPr>
        <p:txBody>
          <a:bodyPr wrap="square" anchor="t" lIns="0" rIns="0" tIns="0" bIns="0">
            <a:spAutoFit/>
          </a:bodyPr>
          <a:lstStyle/>
          <a:p>
            <a:pPr algn="ctr">
              <a:lnSpc>
                <a:spcPct val="95000"/>
              </a:lnSpc>
            </a:pPr>
            <a:r>
              <a:rPr sz="2100" b="1">
                <a:solidFill>
                  <a:srgbClr val="0F2129"/>
                </a:solidFill>
                <a:latin typeface="Barlow Condensed"/>
              </a:rPr>
              <a:t>Llevar el PI
al Arduino</a:t>
            </a:r>
          </a:p>
        </p:txBody>
      </p:sp>
      <p:sp>
        <p:nvSpPr>
          <p:cNvPr id="17" name="TextBox 16"/>
          <p:cNvSpPr txBox="1"/>
          <p:nvPr/>
        </p:nvSpPr>
        <p:spPr>
          <a:xfrm>
            <a:off x="5212080" y="4069080"/>
            <a:ext cx="2057400" cy="1463040"/>
          </a:xfrm>
          <a:prstGeom prst="rect">
            <a:avLst/>
          </a:prstGeom>
          <a:noFill/>
        </p:spPr>
        <p:txBody>
          <a:bodyPr wrap="square" anchor="t" lIns="0" rIns="0" tIns="0" bIns="0">
            <a:spAutoFit/>
          </a:bodyPr>
          <a:lstStyle/>
          <a:p>
            <a:pPr algn="ctr">
              <a:lnSpc>
                <a:spcPct val="105000"/>
              </a:lnSpc>
            </a:pPr>
            <a:r>
              <a:rPr sz="1400" b="0">
                <a:solidFill>
                  <a:srgbClr val="44575D"/>
                </a:solidFill>
                <a:latin typeface="Barlow"/>
              </a:rPr>
              <a:t>De dos formas:</a:t>
            </a:r>
          </a:p>
          <a:p>
            <a:pPr algn="ctr">
              <a:lnSpc>
                <a:spcPct val="105000"/>
              </a:lnSpc>
              <a:spcBef>
                <a:spcPts val="489"/>
              </a:spcBef>
            </a:pPr>
            <a:r>
              <a:rPr sz="1400" b="0">
                <a:solidFill>
                  <a:srgbClr val="44575D"/>
                </a:solidFill>
                <a:latin typeface="Barlow"/>
              </a:rPr>
              <a:t>Embedded Coder</a:t>
            </a:r>
          </a:p>
          <a:p>
            <a:pPr algn="ctr">
              <a:lnSpc>
                <a:spcPct val="105000"/>
              </a:lnSpc>
              <a:spcBef>
                <a:spcPts val="489"/>
              </a:spcBef>
            </a:pPr>
            <a:r>
              <a:rPr sz="1400" b="0">
                <a:solidFill>
                  <a:srgbClr val="44575D"/>
                </a:solidFill>
                <a:latin typeface="Barlow"/>
              </a:rPr>
              <a:t>y protocolo propio</a:t>
            </a:r>
          </a:p>
        </p:txBody>
      </p:sp>
      <p:sp>
        <p:nvSpPr>
          <p:cNvPr id="18" name="Oval 17"/>
          <p:cNvSpPr/>
          <p:nvPr/>
        </p:nvSpPr>
        <p:spPr>
          <a:xfrm>
            <a:off x="8001000" y="2011680"/>
            <a:ext cx="960120" cy="960120"/>
          </a:xfrm>
          <a:prstGeom prst="ellipse">
            <a:avLst/>
          </a:prstGeom>
          <a:solidFill>
            <a:srgbClr val="0F21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000" b="1">
                <a:solidFill>
                  <a:srgbClr val="FFFFFF"/>
                </a:solidFill>
                <a:latin typeface="Barlow Condensed"/>
              </a:rPr>
              <a:t>4</a:t>
            </a:r>
          </a:p>
        </p:txBody>
      </p:sp>
      <p:cxnSp>
        <p:nvCxnSpPr>
          <p:cNvPr id="19" name="Connector 18"/>
          <p:cNvCxnSpPr/>
          <p:nvPr/>
        </p:nvCxnSpPr>
        <p:spPr>
          <a:xfrm>
            <a:off x="9070848" y="2487168"/>
            <a:ext cx="1060704" cy="0"/>
          </a:xfrm>
          <a:prstGeom prst="line">
            <a:avLst/>
          </a:prstGeom>
          <a:ln w="25400">
            <a:solidFill>
              <a:srgbClr val="C7D1C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52360" y="3200400"/>
            <a:ext cx="2057400" cy="822960"/>
          </a:xfrm>
          <a:prstGeom prst="rect">
            <a:avLst/>
          </a:prstGeom>
          <a:noFill/>
        </p:spPr>
        <p:txBody>
          <a:bodyPr wrap="square" anchor="t" lIns="0" rIns="0" tIns="0" bIns="0">
            <a:spAutoFit/>
          </a:bodyPr>
          <a:lstStyle/>
          <a:p>
            <a:pPr algn="ctr">
              <a:lnSpc>
                <a:spcPct val="95000"/>
              </a:lnSpc>
            </a:pPr>
            <a:r>
              <a:rPr sz="2100" b="1">
                <a:solidFill>
                  <a:srgbClr val="0F2129"/>
                </a:solidFill>
                <a:latin typeface="Barlow Condensed"/>
              </a:rPr>
              <a:t>Agregar el sensor real</a:t>
            </a:r>
          </a:p>
        </p:txBody>
      </p:sp>
      <p:sp>
        <p:nvSpPr>
          <p:cNvPr id="21" name="TextBox 20"/>
          <p:cNvSpPr txBox="1"/>
          <p:nvPr/>
        </p:nvSpPr>
        <p:spPr>
          <a:xfrm>
            <a:off x="7452360" y="4069080"/>
            <a:ext cx="2057400" cy="1463040"/>
          </a:xfrm>
          <a:prstGeom prst="rect">
            <a:avLst/>
          </a:prstGeom>
          <a:noFill/>
        </p:spPr>
        <p:txBody>
          <a:bodyPr wrap="square" anchor="t" lIns="0" rIns="0" tIns="0" bIns="0">
            <a:spAutoFit/>
          </a:bodyPr>
          <a:lstStyle/>
          <a:p>
            <a:pPr algn="ctr">
              <a:lnSpc>
                <a:spcPct val="105000"/>
              </a:lnSpc>
            </a:pPr>
            <a:r>
              <a:rPr sz="1400" b="0">
                <a:solidFill>
                  <a:srgbClr val="44575D"/>
                </a:solidFill>
                <a:latin typeface="Barlow"/>
              </a:rPr>
              <a:t>Sesgo, histéresis</a:t>
            </a:r>
          </a:p>
          <a:p>
            <a:pPr algn="ctr">
              <a:lnSpc>
                <a:spcPct val="105000"/>
              </a:lnSpc>
              <a:spcBef>
                <a:spcPts val="489"/>
              </a:spcBef>
            </a:pPr>
            <a:r>
              <a:rPr sz="1400" b="0">
                <a:solidFill>
                  <a:srgbClr val="44575D"/>
                </a:solidFill>
                <a:latin typeface="Barlow"/>
              </a:rPr>
              <a:t>y ADC de 10 bits</a:t>
            </a:r>
          </a:p>
        </p:txBody>
      </p:sp>
      <p:sp>
        <p:nvSpPr>
          <p:cNvPr id="22" name="Oval 21"/>
          <p:cNvSpPr/>
          <p:nvPr/>
        </p:nvSpPr>
        <p:spPr>
          <a:xfrm>
            <a:off x="10241280" y="2011680"/>
            <a:ext cx="960120" cy="960120"/>
          </a:xfrm>
          <a:prstGeom prst="ellipse">
            <a:avLst/>
          </a:prstGeom>
          <a:solidFill>
            <a:srgbClr val="0F21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000" b="1">
                <a:solidFill>
                  <a:srgbClr val="FFFFFF"/>
                </a:solidFill>
                <a:latin typeface="Barlow Condensed"/>
              </a:rPr>
              <a:t>5</a:t>
            </a:r>
          </a:p>
        </p:txBody>
      </p:sp>
      <p:sp>
        <p:nvSpPr>
          <p:cNvPr id="23" name="TextBox 22"/>
          <p:cNvSpPr txBox="1"/>
          <p:nvPr/>
        </p:nvSpPr>
        <p:spPr>
          <a:xfrm>
            <a:off x="9692640" y="3200400"/>
            <a:ext cx="2057400" cy="822960"/>
          </a:xfrm>
          <a:prstGeom prst="rect">
            <a:avLst/>
          </a:prstGeom>
          <a:noFill/>
        </p:spPr>
        <p:txBody>
          <a:bodyPr wrap="square" anchor="t" lIns="0" rIns="0" tIns="0" bIns="0">
            <a:spAutoFit/>
          </a:bodyPr>
          <a:lstStyle/>
          <a:p>
            <a:pPr algn="ctr">
              <a:lnSpc>
                <a:spcPct val="95000"/>
              </a:lnSpc>
            </a:pPr>
            <a:r>
              <a:rPr sz="2100" b="1">
                <a:solidFill>
                  <a:srgbClr val="0F2129"/>
                </a:solidFill>
                <a:latin typeface="Barlow Condensed"/>
              </a:rPr>
              <a:t>Comparar 6 casos</a:t>
            </a:r>
          </a:p>
        </p:txBody>
      </p:sp>
      <p:sp>
        <p:nvSpPr>
          <p:cNvPr id="24" name="TextBox 23"/>
          <p:cNvSpPr txBox="1"/>
          <p:nvPr/>
        </p:nvSpPr>
        <p:spPr>
          <a:xfrm>
            <a:off x="9692640" y="4069080"/>
            <a:ext cx="2057400" cy="1463040"/>
          </a:xfrm>
          <a:prstGeom prst="rect">
            <a:avLst/>
          </a:prstGeom>
          <a:noFill/>
        </p:spPr>
        <p:txBody>
          <a:bodyPr wrap="square" anchor="t" lIns="0" rIns="0" tIns="0" bIns="0">
            <a:spAutoFit/>
          </a:bodyPr>
          <a:lstStyle/>
          <a:p>
            <a:pPr algn="ctr">
              <a:lnSpc>
                <a:spcPct val="105000"/>
              </a:lnSpc>
            </a:pPr>
            <a:r>
              <a:rPr sz="1400" b="0">
                <a:solidFill>
                  <a:srgbClr val="44575D"/>
                </a:solidFill>
                <a:latin typeface="Barlow"/>
              </a:rPr>
              <a:t>Escalón 0 → 400 mm</a:t>
            </a:r>
          </a:p>
          <a:p>
            <a:pPr algn="ctr">
              <a:lnSpc>
                <a:spcPct val="105000"/>
              </a:lnSpc>
              <a:spcBef>
                <a:spcPts val="489"/>
              </a:spcBef>
            </a:pPr>
            <a:r>
              <a:rPr sz="1400" b="0">
                <a:solidFill>
                  <a:srgbClr val="44575D"/>
                </a:solidFill>
                <a:latin typeface="Barlow"/>
              </a:rPr>
              <a:t>Mismas métricas</a:t>
            </a:r>
          </a:p>
        </p:txBody>
      </p:sp>
      <p:sp>
        <p:nvSpPr>
          <p:cNvPr id="25" name="Rounded Rectangle 24"/>
          <p:cNvSpPr/>
          <p:nvPr/>
        </p:nvSpPr>
        <p:spPr>
          <a:xfrm>
            <a:off x="777240" y="5532120"/>
            <a:ext cx="10698480" cy="548640"/>
          </a:xfrm>
          <a:prstGeom prst="roundRect">
            <a:avLst>
              <a:gd name="adj" fmla="val 20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2129"/>
                </a:solidFill>
                <a:latin typeface="Barlow"/>
              </a:rPr>
              <a:t>Casos: </a:t>
            </a:r>
            <a:r>
              <a:rPr sz="1500" b="0">
                <a:solidFill>
                  <a:srgbClr val="0F2129"/>
                </a:solidFill>
                <a:latin typeface="Barlow"/>
              </a:rPr>
              <a:t>MiL · PiL ideal · solo cuantización · solo linealidad · solo histéresis · las tres juntas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MONTAJE</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La PC simula la planta y el Arduino calcula el control</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5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Rounded Rectangle 5"/>
          <p:cNvSpPr/>
          <p:nvPr/>
        </p:nvSpPr>
        <p:spPr>
          <a:xfrm>
            <a:off x="594360" y="1783080"/>
            <a:ext cx="5120640" cy="4160520"/>
          </a:xfrm>
          <a:prstGeom prst="roundRect">
            <a:avLst>
              <a:gd name="adj" fmla="val 4000"/>
            </a:avLst>
          </a:prstGeom>
          <a:solidFill>
            <a:srgbClr val="FFFFFF"/>
          </a:solidFill>
          <a:ln w="22225">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38528"/>
            <a:ext cx="4572000" cy="320040"/>
          </a:xfrm>
          <a:prstGeom prst="rect">
            <a:avLst/>
          </a:prstGeom>
          <a:noFill/>
        </p:spPr>
        <p:txBody>
          <a:bodyPr wrap="square" anchor="t" lIns="0" rIns="0" tIns="0" bIns="0">
            <a:spAutoFit/>
          </a:bodyPr>
          <a:lstStyle/>
          <a:p>
            <a:pPr algn="l">
              <a:lnSpc>
                <a:spcPct val="110000"/>
              </a:lnSpc>
            </a:pPr>
            <a:r>
              <a:rPr sz="1300" b="1">
                <a:solidFill>
                  <a:srgbClr val="6C7D82"/>
                </a:solidFill>
                <a:latin typeface="Barlow Condensed"/>
              </a:rPr>
              <a:t>PC · MATLAB R2026a + SIMULINK</a:t>
            </a:r>
          </a:p>
        </p:txBody>
      </p:sp>
      <p:sp>
        <p:nvSpPr>
          <p:cNvPr id="8" name="Rounded Rectangle 7"/>
          <p:cNvSpPr/>
          <p:nvPr/>
        </p:nvSpPr>
        <p:spPr>
          <a:xfrm>
            <a:off x="868680" y="2377440"/>
            <a:ext cx="4572000" cy="1417320"/>
          </a:xfrm>
          <a:prstGeom prst="roundRect">
            <a:avLst>
              <a:gd name="adj" fmla="val 8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2100" b="1">
                <a:solidFill>
                  <a:srgbClr val="0F2129"/>
                </a:solidFill>
                <a:latin typeface="Barlow Condensed"/>
              </a:rPr>
              <a:t>Planta hidráulica</a:t>
            </a:r>
          </a:p>
          <a:p>
            <a:pPr algn="l"/>
            <a:r>
              <a:rPr sz="1400" b="0">
                <a:solidFill>
                  <a:srgbClr val="0F2129"/>
                </a:solidFill>
                <a:latin typeface="Barlow"/>
              </a:rPr>
              <a:t>Cilindro Rexroth CDH1 40/28</a:t>
            </a:r>
          </a:p>
          <a:p>
            <a:pPr algn="l"/>
            <a:r>
              <a:rPr sz="1400" b="0">
                <a:solidFill>
                  <a:srgbClr val="0F2129"/>
                </a:solidFill>
                <a:latin typeface="Barlow"/>
              </a:rPr>
              <a:t>Válvula proporcional 4WREE · 160 bar</a:t>
            </a:r>
          </a:p>
        </p:txBody>
      </p:sp>
      <p:sp>
        <p:nvSpPr>
          <p:cNvPr id="9" name="Rounded Rectangle 8"/>
          <p:cNvSpPr/>
          <p:nvPr/>
        </p:nvSpPr>
        <p:spPr>
          <a:xfrm>
            <a:off x="868680" y="4023360"/>
            <a:ext cx="4572000" cy="914400"/>
          </a:xfrm>
          <a:prstGeom prst="roundRect">
            <a:avLst>
              <a:gd name="adj" fmla="val 10000"/>
            </a:avLst>
          </a:prstGeom>
          <a:solidFill>
            <a:srgbClr val="D3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2100" b="1">
                <a:solidFill>
                  <a:srgbClr val="0F2129"/>
                </a:solidFill>
                <a:latin typeface="Barlow Condensed"/>
              </a:rPr>
              <a:t>Modelo del sensor</a:t>
            </a:r>
          </a:p>
          <a:p>
            <a:pPr algn="l"/>
            <a:r>
              <a:rPr sz="1400" b="0">
                <a:solidFill>
                  <a:srgbClr val="0F2129"/>
                </a:solidFill>
                <a:latin typeface="Barlow"/>
              </a:rPr>
              <a:t>sesgo → histéresis → ADC</a:t>
            </a:r>
          </a:p>
        </p:txBody>
      </p:sp>
      <p:sp>
        <p:nvSpPr>
          <p:cNvPr id="10" name="TextBox 9"/>
          <p:cNvSpPr txBox="1"/>
          <p:nvPr/>
        </p:nvSpPr>
        <p:spPr>
          <a:xfrm>
            <a:off x="868680" y="5166360"/>
            <a:ext cx="4572000" cy="640080"/>
          </a:xfrm>
          <a:prstGeom prst="rect">
            <a:avLst/>
          </a:prstGeom>
          <a:noFill/>
        </p:spPr>
        <p:txBody>
          <a:bodyPr wrap="square" anchor="t" lIns="0" rIns="0" tIns="0" bIns="0">
            <a:spAutoFit/>
          </a:bodyPr>
          <a:lstStyle/>
          <a:p>
            <a:pPr algn="l">
              <a:lnSpc>
                <a:spcPct val="110000"/>
              </a:lnSpc>
            </a:pPr>
            <a:r>
              <a:rPr sz="1400" b="0">
                <a:solidFill>
                  <a:srgbClr val="6C7D82"/>
                </a:solidFill>
                <a:latin typeface="Barlow"/>
              </a:rPr>
              <a:t>Solver ode4, paso de 0.1 ms</a:t>
            </a:r>
          </a:p>
        </p:txBody>
      </p:sp>
      <p:sp>
        <p:nvSpPr>
          <p:cNvPr id="11" name="Rounded Rectangle 10"/>
          <p:cNvSpPr/>
          <p:nvPr/>
        </p:nvSpPr>
        <p:spPr>
          <a:xfrm>
            <a:off x="7909560" y="2331720"/>
            <a:ext cx="3657600" cy="2926080"/>
          </a:xfrm>
          <a:prstGeom prst="roundRect">
            <a:avLst>
              <a:gd name="adj" fmla="val 5000"/>
            </a:avLst>
          </a:prstGeom>
          <a:solidFill>
            <a:srgbClr val="F6DCCF"/>
          </a:solidFill>
          <a:ln w="25400">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83879" y="2514600"/>
            <a:ext cx="3200400" cy="320040"/>
          </a:xfrm>
          <a:prstGeom prst="rect">
            <a:avLst/>
          </a:prstGeom>
          <a:noFill/>
        </p:spPr>
        <p:txBody>
          <a:bodyPr wrap="square" anchor="t" lIns="0" rIns="0" tIns="0" bIns="0">
            <a:spAutoFit/>
          </a:bodyPr>
          <a:lstStyle/>
          <a:p>
            <a:pPr algn="l">
              <a:lnSpc>
                <a:spcPct val="110000"/>
              </a:lnSpc>
            </a:pPr>
            <a:r>
              <a:rPr sz="1300" b="1">
                <a:solidFill>
                  <a:srgbClr val="C8440D"/>
                </a:solidFill>
                <a:latin typeface="Barlow Condensed"/>
              </a:rPr>
              <a:t>ARDUINO UNO R3</a:t>
            </a:r>
          </a:p>
        </p:txBody>
      </p:sp>
      <p:sp>
        <p:nvSpPr>
          <p:cNvPr id="13" name="TextBox 12"/>
          <p:cNvSpPr txBox="1"/>
          <p:nvPr/>
        </p:nvSpPr>
        <p:spPr>
          <a:xfrm>
            <a:off x="8183879" y="2834640"/>
            <a:ext cx="3200400" cy="640080"/>
          </a:xfrm>
          <a:prstGeom prst="rect">
            <a:avLst/>
          </a:prstGeom>
          <a:noFill/>
        </p:spPr>
        <p:txBody>
          <a:bodyPr wrap="square" anchor="t" lIns="0" rIns="0" tIns="0" bIns="0">
            <a:spAutoFit/>
          </a:bodyPr>
          <a:lstStyle/>
          <a:p>
            <a:pPr algn="l">
              <a:lnSpc>
                <a:spcPct val="110000"/>
              </a:lnSpc>
            </a:pPr>
            <a:r>
              <a:rPr sz="3000" b="1">
                <a:solidFill>
                  <a:srgbClr val="0F2129"/>
                </a:solidFill>
                <a:latin typeface="Barlow Condensed"/>
              </a:rPr>
              <a:t>Controlador PI</a:t>
            </a:r>
          </a:p>
        </p:txBody>
      </p:sp>
      <p:sp>
        <p:nvSpPr>
          <p:cNvPr id="14" name="TextBox 13"/>
          <p:cNvSpPr txBox="1"/>
          <p:nvPr/>
        </p:nvSpPr>
        <p:spPr>
          <a:xfrm>
            <a:off x="8183879" y="3520440"/>
            <a:ext cx="3200400" cy="146304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ATmega328P · 8 bits · 16 MHz</a:t>
            </a:r>
          </a:p>
          <a:p>
            <a:pPr algn="l">
              <a:lnSpc>
                <a:spcPct val="110000"/>
              </a:lnSpc>
              <a:spcBef>
                <a:spcPts val="525"/>
              </a:spcBef>
            </a:pPr>
            <a:r>
              <a:rPr sz="1500" b="0">
                <a:solidFill>
                  <a:srgbClr val="44575D"/>
                </a:solidFill>
                <a:latin typeface="Barlow"/>
              </a:rPr>
              <a:t>Se ejecuta cada 10 ms</a:t>
            </a:r>
          </a:p>
          <a:p>
            <a:pPr algn="l">
              <a:lnSpc>
                <a:spcPct val="110000"/>
              </a:lnSpc>
              <a:spcBef>
                <a:spcPts val="525"/>
              </a:spcBef>
            </a:pPr>
            <a:r>
              <a:rPr sz="1500" b="0">
                <a:solidFill>
                  <a:srgbClr val="44575D"/>
                </a:solidFill>
                <a:latin typeface="Barlow"/>
              </a:rPr>
              <a:t>Comando saturado a ±1</a:t>
            </a:r>
          </a:p>
        </p:txBody>
      </p:sp>
      <p:cxnSp>
        <p:nvCxnSpPr>
          <p:cNvPr id="15" name="Connector 14"/>
          <p:cNvCxnSpPr/>
          <p:nvPr/>
        </p:nvCxnSpPr>
        <p:spPr>
          <a:xfrm>
            <a:off x="5715000" y="2971800"/>
            <a:ext cx="2194560" cy="0"/>
          </a:xfrm>
          <a:prstGeom prst="line">
            <a:avLst/>
          </a:prstGeom>
          <a:ln w="38100">
            <a:solidFill>
              <a:srgbClr val="0F212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715000" y="4572000"/>
            <a:ext cx="2194560" cy="0"/>
          </a:xfrm>
          <a:prstGeom prst="line">
            <a:avLst/>
          </a:prstGeom>
          <a:ln w="38100">
            <a:solidFill>
              <a:srgbClr val="C8440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760720" y="2395728"/>
            <a:ext cx="2103120" cy="548640"/>
          </a:xfrm>
          <a:prstGeom prst="rect">
            <a:avLst/>
          </a:prstGeom>
          <a:noFill/>
        </p:spPr>
        <p:txBody>
          <a:bodyPr wrap="square" anchor="t" lIns="0" rIns="0" tIns="0" bIns="0">
            <a:spAutoFit/>
          </a:bodyPr>
          <a:lstStyle/>
          <a:p>
            <a:pPr algn="ctr">
              <a:lnSpc>
                <a:spcPct val="95000"/>
              </a:lnSpc>
            </a:pPr>
            <a:r>
              <a:rPr sz="1500" b="0">
                <a:solidFill>
                  <a:srgbClr val="0F2129"/>
                </a:solidFill>
                <a:latin typeface="Barlow"/>
              </a:rPr>
              <a:t>Posición medida</a:t>
            </a:r>
          </a:p>
          <a:p>
            <a:pPr algn="ctr">
              <a:lnSpc>
                <a:spcPct val="95000"/>
              </a:lnSpc>
              <a:spcBef>
                <a:spcPts val="525"/>
              </a:spcBef>
            </a:pPr>
            <a:r>
              <a:rPr sz="1500" b="0">
                <a:solidFill>
                  <a:srgbClr val="0F2129"/>
                </a:solidFill>
                <a:latin typeface="Barlow"/>
              </a:rPr>
              <a:t>y referencia</a:t>
            </a:r>
          </a:p>
        </p:txBody>
      </p:sp>
      <p:sp>
        <p:nvSpPr>
          <p:cNvPr id="18" name="TextBox 17"/>
          <p:cNvSpPr txBox="1"/>
          <p:nvPr/>
        </p:nvSpPr>
        <p:spPr>
          <a:xfrm>
            <a:off x="5760720" y="4663440"/>
            <a:ext cx="2103120" cy="548640"/>
          </a:xfrm>
          <a:prstGeom prst="rect">
            <a:avLst/>
          </a:prstGeom>
          <a:noFill/>
        </p:spPr>
        <p:txBody>
          <a:bodyPr wrap="square" anchor="t" lIns="0" rIns="0" tIns="0" bIns="0">
            <a:spAutoFit/>
          </a:bodyPr>
          <a:lstStyle/>
          <a:p>
            <a:pPr algn="ctr">
              <a:lnSpc>
                <a:spcPct val="95000"/>
              </a:lnSpc>
            </a:pPr>
            <a:r>
              <a:rPr sz="1500" b="0">
                <a:solidFill>
                  <a:srgbClr val="C8440D"/>
                </a:solidFill>
                <a:latin typeface="Barlow"/>
              </a:rPr>
              <a:t>Comando de</a:t>
            </a:r>
          </a:p>
          <a:p>
            <a:pPr algn="ctr">
              <a:lnSpc>
                <a:spcPct val="95000"/>
              </a:lnSpc>
              <a:spcBef>
                <a:spcPts val="525"/>
              </a:spcBef>
            </a:pPr>
            <a:r>
              <a:rPr sz="1500" b="0">
                <a:solidFill>
                  <a:srgbClr val="C8440D"/>
                </a:solidFill>
                <a:latin typeface="Barlow"/>
              </a:rPr>
              <a:t>la válvula u</a:t>
            </a:r>
          </a:p>
        </p:txBody>
      </p:sp>
      <p:sp>
        <p:nvSpPr>
          <p:cNvPr id="19" name="TextBox 18"/>
          <p:cNvSpPr txBox="1"/>
          <p:nvPr/>
        </p:nvSpPr>
        <p:spPr>
          <a:xfrm>
            <a:off x="5760720" y="3429000"/>
            <a:ext cx="2103120" cy="822960"/>
          </a:xfrm>
          <a:prstGeom prst="rect">
            <a:avLst/>
          </a:prstGeom>
          <a:noFill/>
        </p:spPr>
        <p:txBody>
          <a:bodyPr wrap="square" anchor="t" lIns="0" rIns="0" tIns="0" bIns="0">
            <a:spAutoFit/>
          </a:bodyPr>
          <a:lstStyle/>
          <a:p>
            <a:pPr algn="ctr">
              <a:lnSpc>
                <a:spcPct val="110000"/>
              </a:lnSpc>
            </a:pPr>
            <a:r>
              <a:rPr sz="1600" b="1">
                <a:solidFill>
                  <a:srgbClr val="0F2129"/>
                </a:solidFill>
                <a:latin typeface="Barlow Condensed"/>
              </a:rPr>
              <a:t>USB · UART</a:t>
            </a:r>
          </a:p>
          <a:p>
            <a:pPr algn="ctr">
              <a:lnSpc>
                <a:spcPct val="110000"/>
              </a:lnSpc>
            </a:pPr>
            <a:r>
              <a:rPr sz="1300" b="1">
                <a:solidFill>
                  <a:srgbClr val="6C7D82"/>
                </a:solidFill>
                <a:latin typeface="Roboto Mono"/>
              </a:rPr>
              <a:t>115200 baud</a:t>
            </a:r>
          </a:p>
        </p:txBody>
      </p:sp>
      <p:sp>
        <p:nvSpPr>
          <p:cNvPr id="20" name="Rounded Rectangle 19"/>
          <p:cNvSpPr/>
          <p:nvPr/>
        </p:nvSpPr>
        <p:spPr>
          <a:xfrm>
            <a:off x="594360" y="6053328"/>
            <a:ext cx="10972800" cy="9144"/>
          </a:xfrm>
          <a:prstGeom prst="roundRect">
            <a:avLst>
              <a:gd name="adj" fmla="val 0"/>
            </a:avLst>
          </a:prstGeom>
          <a:solidFill>
            <a:srgbClr val="C7D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909560" y="5440680"/>
            <a:ext cx="3657600" cy="548640"/>
          </a:xfrm>
          <a:prstGeom prst="rect">
            <a:avLst/>
          </a:prstGeom>
          <a:noFill/>
        </p:spPr>
        <p:txBody>
          <a:bodyPr wrap="square" anchor="t" lIns="0" rIns="0" tIns="0" bIns="0">
            <a:spAutoFit/>
          </a:bodyPr>
          <a:lstStyle/>
          <a:p>
            <a:pPr algn="l">
              <a:lnSpc>
                <a:spcPct val="110000"/>
              </a:lnSpc>
            </a:pPr>
            <a:r>
              <a:rPr sz="1400" b="1">
                <a:solidFill>
                  <a:srgbClr val="44575D"/>
                </a:solidFill>
                <a:latin typeface="Barlow"/>
              </a:rPr>
              <a:t>Lockstep: </a:t>
            </a:r>
            <a:r>
              <a:rPr sz="1400" b="0">
                <a:solidFill>
                  <a:srgbClr val="44575D"/>
                </a:solidFill>
                <a:latin typeface="Barlow"/>
              </a:rPr>
              <a:t>Simulink espera la respuesta antes de avanzar.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IMPLEMENTACIÓN</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Lo hicimos de dos formas independientes</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6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TextBox 5"/>
          <p:cNvSpPr txBox="1"/>
          <p:nvPr/>
        </p:nvSpPr>
        <p:spPr>
          <a:xfrm>
            <a:off x="594360" y="1691640"/>
            <a:ext cx="6035040" cy="365760"/>
          </a:xfrm>
          <a:prstGeom prst="rect">
            <a:avLst/>
          </a:prstGeom>
          <a:noFill/>
        </p:spPr>
        <p:txBody>
          <a:bodyPr wrap="square" anchor="t" lIns="0" rIns="0" tIns="0" bIns="0">
            <a:spAutoFit/>
          </a:bodyPr>
          <a:lstStyle/>
          <a:p>
            <a:pPr algn="l">
              <a:lnSpc>
                <a:spcPct val="110000"/>
              </a:lnSpc>
            </a:pPr>
            <a:r>
              <a:rPr sz="2200" b="1">
                <a:solidFill>
                  <a:srgbClr val="C8440D"/>
                </a:solidFill>
                <a:latin typeface="Barlow Condensed"/>
              </a:rPr>
              <a:t>A  </a:t>
            </a:r>
            <a:r>
              <a:rPr sz="2200" b="1">
                <a:solidFill>
                  <a:srgbClr val="0F2129"/>
                </a:solidFill>
                <a:latin typeface="Barlow Condensed"/>
              </a:rPr>
              <a:t>PIL de Simulink con Embedded Coder</a:t>
            </a:r>
          </a:p>
        </p:txBody>
      </p:sp>
      <p:sp>
        <p:nvSpPr>
          <p:cNvPr id="7" name="Rounded Rectangle 6"/>
          <p:cNvSpPr/>
          <p:nvPr/>
        </p:nvSpPr>
        <p:spPr>
          <a:xfrm>
            <a:off x="594360" y="2194560"/>
            <a:ext cx="6035040" cy="3063240"/>
          </a:xfrm>
          <a:prstGeom prst="roundRect">
            <a:avLst>
              <a:gd name="adj" fmla="val 3000"/>
            </a:avLst>
          </a:prstGeom>
          <a:solidFill>
            <a:srgbClr val="FFFFFF"/>
          </a:solidFill>
          <a:ln w="12700">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l_PiL_oficial.png"/>
          <p:cNvPicPr>
            <a:picLocks noChangeAspect="1"/>
          </p:cNvPicPr>
          <p:nvPr/>
        </p:nvPicPr>
        <p:blipFill>
          <a:blip r:embed="rId2"/>
          <a:stretch>
            <a:fillRect/>
          </a:stretch>
        </p:blipFill>
        <p:spPr>
          <a:xfrm>
            <a:off x="731520" y="2286000"/>
            <a:ext cx="5760720" cy="2778954"/>
          </a:xfrm>
          <a:prstGeom prst="rect">
            <a:avLst/>
          </a:prstGeom>
        </p:spPr>
      </p:pic>
      <p:sp>
        <p:nvSpPr>
          <p:cNvPr id="9" name="Rounded Rectangle 8"/>
          <p:cNvSpPr/>
          <p:nvPr/>
        </p:nvSpPr>
        <p:spPr>
          <a:xfrm>
            <a:off x="594360" y="5440680"/>
            <a:ext cx="2011680" cy="777240"/>
          </a:xfrm>
          <a:prstGeom prst="roundRect">
            <a:avLst>
              <a:gd name="adj" fmla="val 6000"/>
            </a:avLst>
          </a:prstGeom>
          <a:solidFill>
            <a:srgbClr val="FFFFFF"/>
          </a:solidFill>
          <a:ln w="12700">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_ctrl_pi.png"/>
          <p:cNvPicPr>
            <a:picLocks noChangeAspect="1"/>
          </p:cNvPicPr>
          <p:nvPr/>
        </p:nvPicPr>
        <p:blipFill>
          <a:blip r:embed="rId3"/>
          <a:stretch>
            <a:fillRect/>
          </a:stretch>
        </p:blipFill>
        <p:spPr>
          <a:xfrm>
            <a:off x="685800" y="5532120"/>
            <a:ext cx="1828800" cy="640080"/>
          </a:xfrm>
          <a:prstGeom prst="rect">
            <a:avLst/>
          </a:prstGeom>
        </p:spPr>
      </p:pic>
      <p:cxnSp>
        <p:nvCxnSpPr>
          <p:cNvPr id="11" name="Connector 10"/>
          <p:cNvCxnSpPr/>
          <p:nvPr/>
        </p:nvCxnSpPr>
        <p:spPr>
          <a:xfrm>
            <a:off x="2697480" y="5824728"/>
            <a:ext cx="457200" cy="0"/>
          </a:xfrm>
          <a:prstGeom prst="line">
            <a:avLst/>
          </a:prstGeom>
          <a:ln w="25400">
            <a:solidFill>
              <a:srgbClr val="C8440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46120" y="5440680"/>
            <a:ext cx="3474720" cy="822960"/>
          </a:xfrm>
          <a:prstGeom prst="rect">
            <a:avLst/>
          </a:prstGeom>
          <a:noFill/>
        </p:spPr>
        <p:txBody>
          <a:bodyPr wrap="square" anchor="t" lIns="0" rIns="0" tIns="0" bIns="0">
            <a:spAutoFit/>
          </a:bodyPr>
          <a:lstStyle/>
          <a:p>
            <a:pPr algn="l">
              <a:lnSpc>
                <a:spcPct val="100000"/>
              </a:lnSpc>
            </a:pPr>
            <a:r>
              <a:rPr sz="1400" b="0">
                <a:solidFill>
                  <a:srgbClr val="44575D"/>
                </a:solidFill>
                <a:latin typeface="Barlow"/>
              </a:rPr>
              <a:t>Embedded Coder genera C,</a:t>
            </a:r>
          </a:p>
          <a:p>
            <a:pPr algn="l">
              <a:lnSpc>
                <a:spcPct val="100000"/>
              </a:lnSpc>
              <a:spcBef>
                <a:spcPts val="489"/>
              </a:spcBef>
            </a:pPr>
            <a:r>
              <a:rPr sz="1400" b="0">
                <a:solidFill>
                  <a:srgbClr val="44575D"/>
                </a:solidFill>
                <a:latin typeface="Barlow"/>
              </a:rPr>
              <a:t>lo compila y lo carga al Arduino</a:t>
            </a:r>
          </a:p>
        </p:txBody>
      </p:sp>
      <p:sp>
        <p:nvSpPr>
          <p:cNvPr id="13" name="TextBox 12"/>
          <p:cNvSpPr txBox="1"/>
          <p:nvPr/>
        </p:nvSpPr>
        <p:spPr>
          <a:xfrm>
            <a:off x="7086600" y="1691640"/>
            <a:ext cx="4572000" cy="365760"/>
          </a:xfrm>
          <a:prstGeom prst="rect">
            <a:avLst/>
          </a:prstGeom>
          <a:noFill/>
        </p:spPr>
        <p:txBody>
          <a:bodyPr wrap="square" anchor="t" lIns="0" rIns="0" tIns="0" bIns="0">
            <a:spAutoFit/>
          </a:bodyPr>
          <a:lstStyle/>
          <a:p>
            <a:pPr algn="l">
              <a:lnSpc>
                <a:spcPct val="110000"/>
              </a:lnSpc>
            </a:pPr>
            <a:r>
              <a:rPr sz="2200" b="1">
                <a:solidFill>
                  <a:srgbClr val="0D6B70"/>
                </a:solidFill>
                <a:latin typeface="Barlow Condensed"/>
              </a:rPr>
              <a:t>B  </a:t>
            </a:r>
            <a:r>
              <a:rPr sz="2200" b="1">
                <a:solidFill>
                  <a:srgbClr val="0F2129"/>
                </a:solidFill>
                <a:latin typeface="Barlow Condensed"/>
              </a:rPr>
              <a:t>PI escrito a mano + trama propia</a:t>
            </a:r>
          </a:p>
        </p:txBody>
      </p:sp>
      <p:sp>
        <p:nvSpPr>
          <p:cNvPr id="14" name="Rounded Rectangle 13"/>
          <p:cNvSpPr/>
          <p:nvPr/>
        </p:nvSpPr>
        <p:spPr>
          <a:xfrm>
            <a:off x="7086600" y="2606040"/>
            <a:ext cx="685800" cy="658368"/>
          </a:xfrm>
          <a:prstGeom prst="roundRect">
            <a:avLst>
              <a:gd name="adj" fmla="val 10000"/>
            </a:avLst>
          </a:prstGeom>
          <a:solidFill>
            <a:srgbClr val="FFFFFF"/>
          </a:solidFill>
          <a:ln w="22225">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AA</a:t>
            </a:r>
          </a:p>
        </p:txBody>
      </p:sp>
      <p:sp>
        <p:nvSpPr>
          <p:cNvPr id="15" name="TextBox 14"/>
          <p:cNvSpPr txBox="1"/>
          <p:nvPr/>
        </p:nvSpPr>
        <p:spPr>
          <a:xfrm>
            <a:off x="7086600" y="3319272"/>
            <a:ext cx="68580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INICIO</a:t>
            </a:r>
          </a:p>
        </p:txBody>
      </p:sp>
      <p:sp>
        <p:nvSpPr>
          <p:cNvPr id="16" name="Rounded Rectangle 15"/>
          <p:cNvSpPr/>
          <p:nvPr/>
        </p:nvSpPr>
        <p:spPr>
          <a:xfrm>
            <a:off x="7845552" y="2606040"/>
            <a:ext cx="1280160" cy="658368"/>
          </a:xfrm>
          <a:prstGeom prst="roundRect">
            <a:avLst>
              <a:gd name="adj" fmla="val 10000"/>
            </a:avLst>
          </a:prstGeom>
          <a:solidFill>
            <a:srgbClr val="FFFFFF"/>
          </a:solidFill>
          <a:ln w="22225">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13 75</a:t>
            </a:r>
          </a:p>
        </p:txBody>
      </p:sp>
      <p:sp>
        <p:nvSpPr>
          <p:cNvPr id="17" name="TextBox 16"/>
          <p:cNvSpPr txBox="1"/>
          <p:nvPr/>
        </p:nvSpPr>
        <p:spPr>
          <a:xfrm>
            <a:off x="7845552" y="3319272"/>
            <a:ext cx="128016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POSICIÓN</a:t>
            </a:r>
          </a:p>
        </p:txBody>
      </p:sp>
      <p:sp>
        <p:nvSpPr>
          <p:cNvPr id="18" name="Rounded Rectangle 17"/>
          <p:cNvSpPr/>
          <p:nvPr/>
        </p:nvSpPr>
        <p:spPr>
          <a:xfrm>
            <a:off x="9198864" y="2606040"/>
            <a:ext cx="1280160" cy="658368"/>
          </a:xfrm>
          <a:prstGeom prst="roundRect">
            <a:avLst>
              <a:gd name="adj" fmla="val 10000"/>
            </a:avLst>
          </a:prstGeom>
          <a:solidFill>
            <a:srgbClr val="FFFFFF"/>
          </a:solidFill>
          <a:ln w="22225">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30 75</a:t>
            </a:r>
          </a:p>
        </p:txBody>
      </p:sp>
      <p:sp>
        <p:nvSpPr>
          <p:cNvPr id="19" name="TextBox 18"/>
          <p:cNvSpPr txBox="1"/>
          <p:nvPr/>
        </p:nvSpPr>
        <p:spPr>
          <a:xfrm>
            <a:off x="9198864" y="3319272"/>
            <a:ext cx="128016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REFERENCIA</a:t>
            </a:r>
          </a:p>
        </p:txBody>
      </p:sp>
      <p:sp>
        <p:nvSpPr>
          <p:cNvPr id="20" name="Rounded Rectangle 19"/>
          <p:cNvSpPr/>
          <p:nvPr/>
        </p:nvSpPr>
        <p:spPr>
          <a:xfrm>
            <a:off x="10552176" y="2606040"/>
            <a:ext cx="685800" cy="658368"/>
          </a:xfrm>
          <a:prstGeom prst="roundRect">
            <a:avLst>
              <a:gd name="adj" fmla="val 10000"/>
            </a:avLst>
          </a:prstGeom>
          <a:solidFill>
            <a:srgbClr val="FFFFFF"/>
          </a:solidFill>
          <a:ln w="22225">
            <a:solidFill>
              <a:srgbClr val="0F212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89</a:t>
            </a:r>
          </a:p>
        </p:txBody>
      </p:sp>
      <p:sp>
        <p:nvSpPr>
          <p:cNvPr id="21" name="TextBox 20"/>
          <p:cNvSpPr txBox="1"/>
          <p:nvPr/>
        </p:nvSpPr>
        <p:spPr>
          <a:xfrm>
            <a:off x="10552176" y="3319272"/>
            <a:ext cx="68580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XOR</a:t>
            </a:r>
          </a:p>
        </p:txBody>
      </p:sp>
      <p:sp>
        <p:nvSpPr>
          <p:cNvPr id="22" name="TextBox 21"/>
          <p:cNvSpPr txBox="1"/>
          <p:nvPr/>
        </p:nvSpPr>
        <p:spPr>
          <a:xfrm>
            <a:off x="7086600" y="2221992"/>
            <a:ext cx="4572000" cy="320040"/>
          </a:xfrm>
          <a:prstGeom prst="rect">
            <a:avLst/>
          </a:prstGeom>
          <a:noFill/>
        </p:spPr>
        <p:txBody>
          <a:bodyPr wrap="square" anchor="t" lIns="0" rIns="0" tIns="0" bIns="0">
            <a:spAutoFit/>
          </a:bodyPr>
          <a:lstStyle/>
          <a:p>
            <a:pPr algn="l">
              <a:lnSpc>
                <a:spcPct val="110000"/>
              </a:lnSpc>
            </a:pPr>
            <a:r>
              <a:rPr sz="1400" b="1">
                <a:solidFill>
                  <a:srgbClr val="0F2129"/>
                </a:solidFill>
                <a:latin typeface="Barlow Condensed"/>
              </a:rPr>
              <a:t>PC → ARDUINO</a:t>
            </a:r>
          </a:p>
        </p:txBody>
      </p:sp>
      <p:sp>
        <p:nvSpPr>
          <p:cNvPr id="23" name="Rounded Rectangle 22"/>
          <p:cNvSpPr/>
          <p:nvPr/>
        </p:nvSpPr>
        <p:spPr>
          <a:xfrm>
            <a:off x="7086600" y="4023360"/>
            <a:ext cx="685800" cy="658368"/>
          </a:xfrm>
          <a:prstGeom prst="roundRect">
            <a:avLst>
              <a:gd name="adj" fmla="val 10000"/>
            </a:avLst>
          </a:prstGeom>
          <a:solidFill>
            <a:srgbClr val="FFFFFF"/>
          </a:solidFill>
          <a:ln w="22225">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55</a:t>
            </a:r>
          </a:p>
        </p:txBody>
      </p:sp>
      <p:sp>
        <p:nvSpPr>
          <p:cNvPr id="24" name="TextBox 23"/>
          <p:cNvSpPr txBox="1"/>
          <p:nvPr/>
        </p:nvSpPr>
        <p:spPr>
          <a:xfrm>
            <a:off x="7086600" y="4736592"/>
            <a:ext cx="68580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INICIO</a:t>
            </a:r>
          </a:p>
        </p:txBody>
      </p:sp>
      <p:sp>
        <p:nvSpPr>
          <p:cNvPr id="25" name="Rounded Rectangle 24"/>
          <p:cNvSpPr/>
          <p:nvPr/>
        </p:nvSpPr>
        <p:spPr>
          <a:xfrm>
            <a:off x="7845552" y="4023360"/>
            <a:ext cx="1280160" cy="658368"/>
          </a:xfrm>
          <a:prstGeom prst="roundRect">
            <a:avLst>
              <a:gd name="adj" fmla="val 10000"/>
            </a:avLst>
          </a:prstGeom>
          <a:solidFill>
            <a:srgbClr val="FFFFFF"/>
          </a:solidFill>
          <a:ln w="22225">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FB 01</a:t>
            </a:r>
          </a:p>
        </p:txBody>
      </p:sp>
      <p:sp>
        <p:nvSpPr>
          <p:cNvPr id="26" name="TextBox 25"/>
          <p:cNvSpPr txBox="1"/>
          <p:nvPr/>
        </p:nvSpPr>
        <p:spPr>
          <a:xfrm>
            <a:off x="7845552" y="4736592"/>
            <a:ext cx="128016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COMANDO u</a:t>
            </a:r>
          </a:p>
        </p:txBody>
      </p:sp>
      <p:sp>
        <p:nvSpPr>
          <p:cNvPr id="27" name="Rounded Rectangle 26"/>
          <p:cNvSpPr/>
          <p:nvPr/>
        </p:nvSpPr>
        <p:spPr>
          <a:xfrm>
            <a:off x="9198864" y="4023360"/>
            <a:ext cx="548640" cy="658368"/>
          </a:xfrm>
          <a:prstGeom prst="roundRect">
            <a:avLst>
              <a:gd name="adj" fmla="val 10000"/>
            </a:avLst>
          </a:prstGeom>
          <a:solidFill>
            <a:srgbClr val="FFFFFF"/>
          </a:solidFill>
          <a:ln w="22225">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84</a:t>
            </a:r>
          </a:p>
        </p:txBody>
      </p:sp>
      <p:sp>
        <p:nvSpPr>
          <p:cNvPr id="28" name="TextBox 27"/>
          <p:cNvSpPr txBox="1"/>
          <p:nvPr/>
        </p:nvSpPr>
        <p:spPr>
          <a:xfrm>
            <a:off x="9198864" y="4736592"/>
            <a:ext cx="54864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SEQ</a:t>
            </a:r>
          </a:p>
        </p:txBody>
      </p:sp>
      <p:sp>
        <p:nvSpPr>
          <p:cNvPr id="29" name="Rounded Rectangle 28"/>
          <p:cNvSpPr/>
          <p:nvPr/>
        </p:nvSpPr>
        <p:spPr>
          <a:xfrm>
            <a:off x="9820656" y="4023360"/>
            <a:ext cx="548640" cy="658368"/>
          </a:xfrm>
          <a:prstGeom prst="roundRect">
            <a:avLst>
              <a:gd name="adj" fmla="val 10000"/>
            </a:avLst>
          </a:prstGeom>
          <a:solidFill>
            <a:srgbClr val="FFFFFF"/>
          </a:solidFill>
          <a:ln w="22225">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00</a:t>
            </a:r>
          </a:p>
        </p:txBody>
      </p:sp>
      <p:sp>
        <p:nvSpPr>
          <p:cNvPr id="30" name="TextBox 29"/>
          <p:cNvSpPr txBox="1"/>
          <p:nvPr/>
        </p:nvSpPr>
        <p:spPr>
          <a:xfrm>
            <a:off x="9820656" y="4736592"/>
            <a:ext cx="54864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EST</a:t>
            </a:r>
          </a:p>
        </p:txBody>
      </p:sp>
      <p:sp>
        <p:nvSpPr>
          <p:cNvPr id="31" name="Rounded Rectangle 30"/>
          <p:cNvSpPr/>
          <p:nvPr/>
        </p:nvSpPr>
        <p:spPr>
          <a:xfrm>
            <a:off x="10442448" y="4023360"/>
            <a:ext cx="685800" cy="658368"/>
          </a:xfrm>
          <a:prstGeom prst="roundRect">
            <a:avLst>
              <a:gd name="adj" fmla="val 10000"/>
            </a:avLst>
          </a:prstGeom>
          <a:solidFill>
            <a:srgbClr val="FFFFFF"/>
          </a:solidFill>
          <a:ln w="22225">
            <a:solidFill>
              <a:srgbClr val="C8440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F2129"/>
                </a:solidFill>
                <a:latin typeface="Roboto Mono"/>
              </a:rPr>
              <a:t>2B</a:t>
            </a:r>
          </a:p>
        </p:txBody>
      </p:sp>
      <p:sp>
        <p:nvSpPr>
          <p:cNvPr id="32" name="TextBox 31"/>
          <p:cNvSpPr txBox="1"/>
          <p:nvPr/>
        </p:nvSpPr>
        <p:spPr>
          <a:xfrm>
            <a:off x="10442448" y="4736592"/>
            <a:ext cx="685800" cy="274320"/>
          </a:xfrm>
          <a:prstGeom prst="rect">
            <a:avLst/>
          </a:prstGeom>
          <a:noFill/>
        </p:spPr>
        <p:txBody>
          <a:bodyPr wrap="square" anchor="t" lIns="0" rIns="0" tIns="0" bIns="0">
            <a:spAutoFit/>
          </a:bodyPr>
          <a:lstStyle/>
          <a:p>
            <a:pPr algn="ctr">
              <a:lnSpc>
                <a:spcPct val="110000"/>
              </a:lnSpc>
            </a:pPr>
            <a:r>
              <a:rPr sz="1100" b="1">
                <a:solidFill>
                  <a:srgbClr val="6C7D82"/>
                </a:solidFill>
                <a:latin typeface="Barlow Condensed"/>
              </a:rPr>
              <a:t>XOR</a:t>
            </a:r>
          </a:p>
        </p:txBody>
      </p:sp>
      <p:sp>
        <p:nvSpPr>
          <p:cNvPr id="33" name="TextBox 32"/>
          <p:cNvSpPr txBox="1"/>
          <p:nvPr/>
        </p:nvSpPr>
        <p:spPr>
          <a:xfrm>
            <a:off x="7086600" y="3639312"/>
            <a:ext cx="4572000" cy="320040"/>
          </a:xfrm>
          <a:prstGeom prst="rect">
            <a:avLst/>
          </a:prstGeom>
          <a:noFill/>
        </p:spPr>
        <p:txBody>
          <a:bodyPr wrap="square" anchor="t" lIns="0" rIns="0" tIns="0" bIns="0">
            <a:spAutoFit/>
          </a:bodyPr>
          <a:lstStyle/>
          <a:p>
            <a:pPr algn="l">
              <a:lnSpc>
                <a:spcPct val="110000"/>
              </a:lnSpc>
            </a:pPr>
            <a:r>
              <a:rPr sz="1400" b="1">
                <a:solidFill>
                  <a:srgbClr val="C8440D"/>
                </a:solidFill>
                <a:latin typeface="Barlow Condensed"/>
              </a:rPr>
              <a:t>ARDUINO → PC</a:t>
            </a:r>
          </a:p>
        </p:txBody>
      </p:sp>
      <p:sp>
        <p:nvSpPr>
          <p:cNvPr id="34" name="TextBox 33"/>
          <p:cNvSpPr txBox="1"/>
          <p:nvPr/>
        </p:nvSpPr>
        <p:spPr>
          <a:xfrm>
            <a:off x="7086600" y="5166360"/>
            <a:ext cx="4572000" cy="109728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Trama real de la demo: x = 299.71 mm, ref = 300.00 mm, u = +0.015.</a:t>
            </a:r>
          </a:p>
          <a:p>
            <a:pPr algn="l">
              <a:lnSpc>
                <a:spcPct val="110000"/>
              </a:lnSpc>
              <a:spcBef>
                <a:spcPts val="489"/>
              </a:spcBef>
            </a:pPr>
            <a:r>
              <a:rPr sz="1400" b="0">
                <a:solidFill>
                  <a:srgbClr val="44575D"/>
                </a:solidFill>
                <a:latin typeface="Barlow"/>
              </a:rPr>
              <a:t>Si el XOR no coincide, el Arduino responde estado =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SENSOR REAL</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Tres no idealidades tomadas de las hojas de datos</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7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Rounded Rectangle 5"/>
          <p:cNvSpPr/>
          <p:nvPr/>
        </p:nvSpPr>
        <p:spPr>
          <a:xfrm>
            <a:off x="594360" y="1783080"/>
            <a:ext cx="10972800" cy="1417320"/>
          </a:xfrm>
          <a:prstGeom prst="roundRect">
            <a:avLst>
              <a:gd name="adj" fmla="val 4000"/>
            </a:avLst>
          </a:prstGeom>
          <a:solidFill>
            <a:srgbClr val="FFFFFF"/>
          </a:solidFill>
          <a:ln w="12700">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l_cadena_sensor.png"/>
          <p:cNvPicPr>
            <a:picLocks noChangeAspect="1"/>
          </p:cNvPicPr>
          <p:nvPr/>
        </p:nvPicPr>
        <p:blipFill>
          <a:blip r:embed="rId2"/>
          <a:stretch>
            <a:fillRect/>
          </a:stretch>
        </p:blipFill>
        <p:spPr>
          <a:xfrm>
            <a:off x="777240" y="1901952"/>
            <a:ext cx="10607040" cy="1049655"/>
          </a:xfrm>
          <a:prstGeom prst="rect">
            <a:avLst/>
          </a:prstGeom>
        </p:spPr>
      </p:pic>
      <p:sp>
        <p:nvSpPr>
          <p:cNvPr id="8" name="TextBox 7"/>
          <p:cNvSpPr txBox="1"/>
          <p:nvPr/>
        </p:nvSpPr>
        <p:spPr>
          <a:xfrm>
            <a:off x="594360" y="3291840"/>
            <a:ext cx="10972800" cy="320040"/>
          </a:xfrm>
          <a:prstGeom prst="rect">
            <a:avLst/>
          </a:prstGeom>
          <a:noFill/>
        </p:spPr>
        <p:txBody>
          <a:bodyPr wrap="square" anchor="t" lIns="0" rIns="0" tIns="0" bIns="0">
            <a:spAutoFit/>
          </a:bodyPr>
          <a:lstStyle/>
          <a:p>
            <a:pPr algn="l">
              <a:lnSpc>
                <a:spcPct val="110000"/>
              </a:lnSpc>
            </a:pPr>
            <a:r>
              <a:rPr sz="1300" b="0">
                <a:solidFill>
                  <a:srgbClr val="6C7D82"/>
                </a:solidFill>
                <a:latin typeface="Barlow"/>
              </a:rPr>
              <a:t>Cadena del sensor dentro del modelo de Simulink: la señal entra por la derecha y sale hacia el controlador</a:t>
            </a:r>
          </a:p>
        </p:txBody>
      </p:sp>
      <p:sp>
        <p:nvSpPr>
          <p:cNvPr id="9" name="Rounded Rectangle 8"/>
          <p:cNvSpPr/>
          <p:nvPr/>
        </p:nvSpPr>
        <p:spPr>
          <a:xfrm>
            <a:off x="594360" y="3840480"/>
            <a:ext cx="3511296" cy="82296"/>
          </a:xfrm>
          <a:prstGeom prst="roundRect">
            <a:avLst>
              <a:gd name="adj" fmla="val 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023360"/>
            <a:ext cx="3474720" cy="365760"/>
          </a:xfrm>
          <a:prstGeom prst="rect">
            <a:avLst/>
          </a:prstGeom>
          <a:noFill/>
        </p:spPr>
        <p:txBody>
          <a:bodyPr wrap="square" anchor="t" lIns="0" rIns="0" tIns="0" bIns="0">
            <a:spAutoFit/>
          </a:bodyPr>
          <a:lstStyle/>
          <a:p>
            <a:pPr algn="l">
              <a:lnSpc>
                <a:spcPct val="110000"/>
              </a:lnSpc>
            </a:pPr>
            <a:r>
              <a:rPr sz="2000" b="1">
                <a:solidFill>
                  <a:srgbClr val="0F2129"/>
                </a:solidFill>
                <a:latin typeface="Barlow Condensed"/>
              </a:rPr>
              <a:t>Error de linealidad</a:t>
            </a:r>
          </a:p>
        </p:txBody>
      </p:sp>
      <p:sp>
        <p:nvSpPr>
          <p:cNvPr id="11" name="TextBox 10"/>
          <p:cNvSpPr txBox="1"/>
          <p:nvPr/>
        </p:nvSpPr>
        <p:spPr>
          <a:xfrm>
            <a:off x="594360" y="4389120"/>
            <a:ext cx="3474720" cy="731520"/>
          </a:xfrm>
          <a:prstGeom prst="rect">
            <a:avLst/>
          </a:prstGeom>
          <a:noFill/>
        </p:spPr>
        <p:txBody>
          <a:bodyPr wrap="square" anchor="t" lIns="0" rIns="0" tIns="0" bIns="0">
            <a:spAutoFit/>
          </a:bodyPr>
          <a:lstStyle/>
          <a:p>
            <a:pPr algn="l">
              <a:lnSpc>
                <a:spcPct val="110000"/>
              </a:lnSpc>
            </a:pPr>
            <a:r>
              <a:rPr sz="4400" b="1">
                <a:solidFill>
                  <a:srgbClr val="0F2129"/>
                </a:solidFill>
                <a:latin typeface="Barlow Condensed"/>
              </a:rPr>
              <a:t>±0.09 mm</a:t>
            </a:r>
          </a:p>
        </p:txBody>
      </p:sp>
      <p:sp>
        <p:nvSpPr>
          <p:cNvPr id="12" name="TextBox 11"/>
          <p:cNvSpPr txBox="1"/>
          <p:nvPr/>
        </p:nvSpPr>
        <p:spPr>
          <a:xfrm>
            <a:off x="594360" y="5166360"/>
            <a:ext cx="3474720" cy="7315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Sesgo constante</a:t>
            </a:r>
          </a:p>
          <a:p>
            <a:pPr algn="l">
              <a:lnSpc>
                <a:spcPct val="110000"/>
              </a:lnSpc>
            </a:pPr>
            <a:r>
              <a:rPr sz="1200" b="0">
                <a:solidFill>
                  <a:srgbClr val="6C7D82"/>
                </a:solidFill>
                <a:latin typeface="Barlow"/>
              </a:rPr>
              <a:t>Rexroth CDH1, RE 17331</a:t>
            </a:r>
          </a:p>
        </p:txBody>
      </p:sp>
      <p:sp>
        <p:nvSpPr>
          <p:cNvPr id="13" name="Rounded Rectangle 12"/>
          <p:cNvSpPr/>
          <p:nvPr/>
        </p:nvSpPr>
        <p:spPr>
          <a:xfrm>
            <a:off x="4325112" y="3840480"/>
            <a:ext cx="3511296" cy="82296"/>
          </a:xfrm>
          <a:prstGeom prst="roundRect">
            <a:avLst>
              <a:gd name="adj" fmla="val 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25112" y="4023360"/>
            <a:ext cx="3474720" cy="365760"/>
          </a:xfrm>
          <a:prstGeom prst="rect">
            <a:avLst/>
          </a:prstGeom>
          <a:noFill/>
        </p:spPr>
        <p:txBody>
          <a:bodyPr wrap="square" anchor="t" lIns="0" rIns="0" tIns="0" bIns="0">
            <a:spAutoFit/>
          </a:bodyPr>
          <a:lstStyle/>
          <a:p>
            <a:pPr algn="l">
              <a:lnSpc>
                <a:spcPct val="110000"/>
              </a:lnSpc>
            </a:pPr>
            <a:r>
              <a:rPr sz="2000" b="1">
                <a:solidFill>
                  <a:srgbClr val="0F2129"/>
                </a:solidFill>
                <a:latin typeface="Barlow Condensed"/>
              </a:rPr>
              <a:t>Histéresis</a:t>
            </a:r>
          </a:p>
        </p:txBody>
      </p:sp>
      <p:sp>
        <p:nvSpPr>
          <p:cNvPr id="15" name="TextBox 14"/>
          <p:cNvSpPr txBox="1"/>
          <p:nvPr/>
        </p:nvSpPr>
        <p:spPr>
          <a:xfrm>
            <a:off x="4325112" y="4389120"/>
            <a:ext cx="3474720" cy="731520"/>
          </a:xfrm>
          <a:prstGeom prst="rect">
            <a:avLst/>
          </a:prstGeom>
          <a:noFill/>
        </p:spPr>
        <p:txBody>
          <a:bodyPr wrap="square" anchor="t" lIns="0" rIns="0" tIns="0" bIns="0">
            <a:spAutoFit/>
          </a:bodyPr>
          <a:lstStyle/>
          <a:p>
            <a:pPr algn="l">
              <a:lnSpc>
                <a:spcPct val="110000"/>
              </a:lnSpc>
            </a:pPr>
            <a:r>
              <a:rPr sz="4400" b="1">
                <a:solidFill>
                  <a:srgbClr val="0F2129"/>
                </a:solidFill>
                <a:latin typeface="Barlow Condensed"/>
              </a:rPr>
              <a:t>0.004 mm</a:t>
            </a:r>
          </a:p>
        </p:txBody>
      </p:sp>
      <p:sp>
        <p:nvSpPr>
          <p:cNvPr id="16" name="TextBox 15"/>
          <p:cNvSpPr txBox="1"/>
          <p:nvPr/>
        </p:nvSpPr>
        <p:spPr>
          <a:xfrm>
            <a:off x="4325112" y="5166360"/>
            <a:ext cx="3474720" cy="7315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Banda muerta (backlash)</a:t>
            </a:r>
          </a:p>
          <a:p>
            <a:pPr algn="l">
              <a:lnSpc>
                <a:spcPct val="110000"/>
              </a:lnSpc>
            </a:pPr>
            <a:r>
              <a:rPr sz="1200" b="0">
                <a:solidFill>
                  <a:srgbClr val="6C7D82"/>
                </a:solidFill>
                <a:latin typeface="Barlow"/>
              </a:rPr>
              <a:t>Rexroth CDH1, RE 17331</a:t>
            </a:r>
          </a:p>
        </p:txBody>
      </p:sp>
      <p:sp>
        <p:nvSpPr>
          <p:cNvPr id="17" name="Rounded Rectangle 16"/>
          <p:cNvSpPr/>
          <p:nvPr/>
        </p:nvSpPr>
        <p:spPr>
          <a:xfrm>
            <a:off x="8055864" y="3840480"/>
            <a:ext cx="3511296" cy="82296"/>
          </a:xfrm>
          <a:prstGeom prst="roundRect">
            <a:avLst>
              <a:gd name="adj" fmla="val 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55864" y="4023360"/>
            <a:ext cx="3474720" cy="365760"/>
          </a:xfrm>
          <a:prstGeom prst="rect">
            <a:avLst/>
          </a:prstGeom>
          <a:noFill/>
        </p:spPr>
        <p:txBody>
          <a:bodyPr wrap="square" anchor="t" lIns="0" rIns="0" tIns="0" bIns="0">
            <a:spAutoFit/>
          </a:bodyPr>
          <a:lstStyle/>
          <a:p>
            <a:pPr algn="l">
              <a:lnSpc>
                <a:spcPct val="110000"/>
              </a:lnSpc>
            </a:pPr>
            <a:r>
              <a:rPr sz="2000" b="1">
                <a:solidFill>
                  <a:srgbClr val="0F2129"/>
                </a:solidFill>
                <a:latin typeface="Barlow Condensed"/>
              </a:rPr>
              <a:t>Cuantización ADC</a:t>
            </a:r>
          </a:p>
        </p:txBody>
      </p:sp>
      <p:sp>
        <p:nvSpPr>
          <p:cNvPr id="19" name="TextBox 18"/>
          <p:cNvSpPr txBox="1"/>
          <p:nvPr/>
        </p:nvSpPr>
        <p:spPr>
          <a:xfrm>
            <a:off x="8055864" y="4389120"/>
            <a:ext cx="3474720" cy="731520"/>
          </a:xfrm>
          <a:prstGeom prst="rect">
            <a:avLst/>
          </a:prstGeom>
          <a:noFill/>
        </p:spPr>
        <p:txBody>
          <a:bodyPr wrap="square" anchor="t" lIns="0" rIns="0" tIns="0" bIns="0">
            <a:spAutoFit/>
          </a:bodyPr>
          <a:lstStyle/>
          <a:p>
            <a:pPr algn="l">
              <a:lnSpc>
                <a:spcPct val="110000"/>
              </a:lnSpc>
            </a:pPr>
            <a:r>
              <a:rPr sz="4400" b="1">
                <a:solidFill>
                  <a:srgbClr val="0F2129"/>
                </a:solidFill>
                <a:latin typeface="Barlow Condensed"/>
              </a:rPr>
              <a:t>0.44 mm</a:t>
            </a:r>
          </a:p>
        </p:txBody>
      </p:sp>
      <p:sp>
        <p:nvSpPr>
          <p:cNvPr id="20" name="TextBox 19"/>
          <p:cNvSpPr txBox="1"/>
          <p:nvPr/>
        </p:nvSpPr>
        <p:spPr>
          <a:xfrm>
            <a:off x="8055864" y="5166360"/>
            <a:ext cx="3474720" cy="731520"/>
          </a:xfrm>
          <a:prstGeom prst="rect">
            <a:avLst/>
          </a:prstGeom>
          <a:noFill/>
        </p:spPr>
        <p:txBody>
          <a:bodyPr wrap="square" anchor="t" lIns="0" rIns="0" tIns="0" bIns="0">
            <a:spAutoFit/>
          </a:bodyPr>
          <a:lstStyle/>
          <a:p>
            <a:pPr algn="l">
              <a:lnSpc>
                <a:spcPct val="110000"/>
              </a:lnSpc>
            </a:pPr>
            <a:r>
              <a:rPr sz="1500" b="0">
                <a:solidFill>
                  <a:srgbClr val="44575D"/>
                </a:solidFill>
                <a:latin typeface="Barlow"/>
              </a:rPr>
              <a:t>450 mm / 1024 niveles</a:t>
            </a:r>
          </a:p>
          <a:p>
            <a:pPr algn="l">
              <a:lnSpc>
                <a:spcPct val="110000"/>
              </a:lnSpc>
            </a:pPr>
            <a:r>
              <a:rPr sz="1200" b="0">
                <a:solidFill>
                  <a:srgbClr val="6C7D82"/>
                </a:solidFill>
                <a:latin typeface="Barlow"/>
              </a:rPr>
              <a:t>ATmega328P, 10 bits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RESULTADO 1 · VERIFICACIÓN</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En el Arduino, el PI responde igual que en el MiL</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8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pic>
        <p:nvPicPr>
          <p:cNvPr id="6" name="Picture 5" descr="g1_mil_vs_pil.png"/>
          <p:cNvPicPr>
            <a:picLocks noChangeAspect="1"/>
          </p:cNvPicPr>
          <p:nvPr/>
        </p:nvPicPr>
        <p:blipFill>
          <a:blip r:embed="rId2"/>
          <a:stretch>
            <a:fillRect/>
          </a:stretch>
        </p:blipFill>
        <p:spPr>
          <a:xfrm>
            <a:off x="502920" y="1691640"/>
            <a:ext cx="7589520" cy="4300878"/>
          </a:xfrm>
          <a:prstGeom prst="rect">
            <a:avLst/>
          </a:prstGeom>
        </p:spPr>
      </p:pic>
      <p:sp>
        <p:nvSpPr>
          <p:cNvPr id="7" name="Rounded Rectangle 6"/>
          <p:cNvSpPr/>
          <p:nvPr/>
        </p:nvSpPr>
        <p:spPr>
          <a:xfrm>
            <a:off x="8412480" y="1828800"/>
            <a:ext cx="54864" cy="4206240"/>
          </a:xfrm>
          <a:prstGeom prst="roundRect">
            <a:avLst>
              <a:gd name="adj" fmla="val 0"/>
            </a:avLst>
          </a:prstGeom>
          <a:solidFill>
            <a:srgbClr val="C7D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0" y="1828800"/>
            <a:ext cx="3474720" cy="685800"/>
          </a:xfrm>
          <a:prstGeom prst="rect">
            <a:avLst/>
          </a:prstGeom>
          <a:noFill/>
        </p:spPr>
        <p:txBody>
          <a:bodyPr wrap="square" anchor="t" lIns="0" rIns="0" tIns="0" bIns="0">
            <a:spAutoFit/>
          </a:bodyPr>
          <a:lstStyle/>
          <a:p>
            <a:pPr algn="l">
              <a:lnSpc>
                <a:spcPct val="110000"/>
              </a:lnSpc>
            </a:pPr>
            <a:r>
              <a:rPr sz="4000" b="1">
                <a:solidFill>
                  <a:srgbClr val="C8440D"/>
                </a:solidFill>
                <a:latin typeface="Barlow Condensed"/>
              </a:rPr>
              <a:t>0 mm</a:t>
            </a:r>
          </a:p>
        </p:txBody>
      </p:sp>
      <p:sp>
        <p:nvSpPr>
          <p:cNvPr id="9" name="TextBox 8"/>
          <p:cNvSpPr txBox="1"/>
          <p:nvPr/>
        </p:nvSpPr>
        <p:spPr>
          <a:xfrm>
            <a:off x="8686800" y="2487168"/>
            <a:ext cx="3474720" cy="5486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Diferencia con el MiL, PIL de Simulink</a:t>
            </a:r>
          </a:p>
        </p:txBody>
      </p:sp>
      <p:sp>
        <p:nvSpPr>
          <p:cNvPr id="10" name="TextBox 9"/>
          <p:cNvSpPr txBox="1"/>
          <p:nvPr/>
        </p:nvSpPr>
        <p:spPr>
          <a:xfrm>
            <a:off x="8686800" y="3246120"/>
            <a:ext cx="3474720" cy="685800"/>
          </a:xfrm>
          <a:prstGeom prst="rect">
            <a:avLst/>
          </a:prstGeom>
          <a:noFill/>
        </p:spPr>
        <p:txBody>
          <a:bodyPr wrap="square" anchor="t" lIns="0" rIns="0" tIns="0" bIns="0">
            <a:spAutoFit/>
          </a:bodyPr>
          <a:lstStyle/>
          <a:p>
            <a:pPr algn="l">
              <a:lnSpc>
                <a:spcPct val="110000"/>
              </a:lnSpc>
            </a:pPr>
            <a:r>
              <a:rPr sz="4000" b="1">
                <a:solidFill>
                  <a:srgbClr val="0D6B70"/>
                </a:solidFill>
                <a:latin typeface="Barlow Condensed"/>
              </a:rPr>
              <a:t>0.0036 mm</a:t>
            </a:r>
          </a:p>
        </p:txBody>
      </p:sp>
      <p:sp>
        <p:nvSpPr>
          <p:cNvPr id="11" name="TextBox 10"/>
          <p:cNvSpPr txBox="1"/>
          <p:nvPr/>
        </p:nvSpPr>
        <p:spPr>
          <a:xfrm>
            <a:off x="8686800" y="3904487"/>
            <a:ext cx="3474720" cy="5486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Diferencia RMS, protocolo propio</a:t>
            </a:r>
          </a:p>
        </p:txBody>
      </p:sp>
      <p:sp>
        <p:nvSpPr>
          <p:cNvPr id="12" name="TextBox 11"/>
          <p:cNvSpPr txBox="1"/>
          <p:nvPr/>
        </p:nvSpPr>
        <p:spPr>
          <a:xfrm>
            <a:off x="8686800" y="4663440"/>
            <a:ext cx="3474720" cy="685800"/>
          </a:xfrm>
          <a:prstGeom prst="rect">
            <a:avLst/>
          </a:prstGeom>
          <a:noFill/>
        </p:spPr>
        <p:txBody>
          <a:bodyPr wrap="square" anchor="t" lIns="0" rIns="0" tIns="0" bIns="0">
            <a:spAutoFit/>
          </a:bodyPr>
          <a:lstStyle/>
          <a:p>
            <a:pPr algn="l">
              <a:lnSpc>
                <a:spcPct val="110000"/>
              </a:lnSpc>
            </a:pPr>
            <a:r>
              <a:rPr sz="4000" b="1">
                <a:solidFill>
                  <a:srgbClr val="0F2129"/>
                </a:solidFill>
                <a:latin typeface="Barlow Condensed"/>
              </a:rPr>
              <a:t>3.4 %  ·  1.05 s</a:t>
            </a:r>
          </a:p>
        </p:txBody>
      </p:sp>
      <p:sp>
        <p:nvSpPr>
          <p:cNvPr id="13" name="TextBox 12"/>
          <p:cNvSpPr txBox="1"/>
          <p:nvPr/>
        </p:nvSpPr>
        <p:spPr>
          <a:xfrm>
            <a:off x="8686800" y="5321807"/>
            <a:ext cx="3474720" cy="5486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Sobrepaso y asentamiento, igual en los tres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RESULTADO 2 · REQUISITOS</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Con el sensor real, cumple con 30 veces de margen</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9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pic>
        <p:nvPicPr>
          <p:cNvPr id="6" name="Picture 5" descr="g2_no_idealidades.png"/>
          <p:cNvPicPr>
            <a:picLocks noChangeAspect="1"/>
          </p:cNvPicPr>
          <p:nvPr/>
        </p:nvPicPr>
        <p:blipFill>
          <a:blip r:embed="rId2"/>
          <a:stretch>
            <a:fillRect/>
          </a:stretch>
        </p:blipFill>
        <p:spPr>
          <a:xfrm>
            <a:off x="457200" y="1783080"/>
            <a:ext cx="5577840" cy="4475532"/>
          </a:xfrm>
          <a:prstGeom prst="rect">
            <a:avLst/>
          </a:prstGeom>
        </p:spPr>
      </p:pic>
      <p:pic>
        <p:nvPicPr>
          <p:cNvPr id="7" name="Picture 6" descr="g3_ess_vs_limite.png"/>
          <p:cNvPicPr>
            <a:picLocks noChangeAspect="1"/>
          </p:cNvPicPr>
          <p:nvPr/>
        </p:nvPicPr>
        <p:blipFill>
          <a:blip r:embed="rId3"/>
          <a:stretch>
            <a:fillRect/>
          </a:stretch>
        </p:blipFill>
        <p:spPr>
          <a:xfrm>
            <a:off x="6172200" y="1783080"/>
            <a:ext cx="5577840" cy="3711971"/>
          </a:xfrm>
          <a:prstGeom prst="rect">
            <a:avLst/>
          </a:prstGeom>
        </p:spPr>
      </p:pic>
      <p:sp>
        <p:nvSpPr>
          <p:cNvPr id="8" name="TextBox 7"/>
          <p:cNvSpPr txBox="1"/>
          <p:nvPr/>
        </p:nvSpPr>
        <p:spPr>
          <a:xfrm>
            <a:off x="594360" y="5806440"/>
            <a:ext cx="5394960" cy="548640"/>
          </a:xfrm>
          <a:prstGeom prst="rect">
            <a:avLst/>
          </a:prstGeom>
          <a:noFill/>
        </p:spPr>
        <p:txBody>
          <a:bodyPr wrap="square" anchor="t" lIns="0" rIns="0" tIns="0" bIns="0">
            <a:spAutoFit/>
          </a:bodyPr>
          <a:lstStyle/>
          <a:p>
            <a:pPr algn="l">
              <a:lnSpc>
                <a:spcPct val="110000"/>
              </a:lnSpc>
            </a:pPr>
            <a:r>
              <a:rPr sz="1400" b="0">
                <a:solidFill>
                  <a:srgbClr val="44575D"/>
                </a:solidFill>
                <a:latin typeface="Barlow"/>
              </a:rPr>
              <a:t>Detalle cerca de 400 mm: la cuantización del ADC es la que más se nota.</a:t>
            </a:r>
          </a:p>
        </p:txBody>
      </p:sp>
      <p:sp>
        <p:nvSpPr>
          <p:cNvPr id="9" name="TextBox 8"/>
          <p:cNvSpPr txBox="1"/>
          <p:nvPr/>
        </p:nvSpPr>
        <p:spPr>
          <a:xfrm>
            <a:off x="6309360" y="5806440"/>
            <a:ext cx="5394960" cy="548640"/>
          </a:xfrm>
          <a:prstGeom prst="rect">
            <a:avLst/>
          </a:prstGeom>
          <a:noFill/>
        </p:spPr>
        <p:txBody>
          <a:bodyPr wrap="square" anchor="t" lIns="0" rIns="0" tIns="0" bIns="0">
            <a:spAutoFit/>
          </a:bodyPr>
          <a:lstStyle/>
          <a:p>
            <a:pPr algn="l">
              <a:lnSpc>
                <a:spcPct val="110000"/>
              </a:lnSpc>
            </a:pPr>
            <a:r>
              <a:rPr sz="1400" b="1">
                <a:solidFill>
                  <a:srgbClr val="44575D"/>
                </a:solidFill>
                <a:latin typeface="Barlow"/>
              </a:rPr>
              <a:t>Peor caso: 0.076 mm</a:t>
            </a:r>
            <a:r>
              <a:rPr sz="1400" b="0">
                <a:solidFill>
                  <a:srgbClr val="44575D"/>
                </a:solidFill>
                <a:latin typeface="Barlow"/>
              </a:rPr>
              <a:t> contra 2.3 mm. Sobrepaso máximo 3.47 %.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DEMOSTRACIÓN</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Demo en vivo con el Arduino</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10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Rounded Rectangle 5"/>
          <p:cNvSpPr/>
          <p:nvPr/>
        </p:nvSpPr>
        <p:spPr>
          <a:xfrm>
            <a:off x="594360" y="1691640"/>
            <a:ext cx="7680960" cy="4343400"/>
          </a:xfrm>
          <a:prstGeom prst="roundRect">
            <a:avLst>
              <a:gd name="adj" fmla="val 2000"/>
            </a:avLst>
          </a:prstGeom>
          <a:solidFill>
            <a:srgbClr val="FFFFFF"/>
          </a:solidFill>
          <a:ln w="12700">
            <a:solidFill>
              <a:srgbClr val="C7D1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emo_tablero.png"/>
          <p:cNvPicPr>
            <a:picLocks noChangeAspect="1"/>
          </p:cNvPicPr>
          <p:nvPr/>
        </p:nvPicPr>
        <p:blipFill>
          <a:blip r:embed="rId2"/>
          <a:stretch>
            <a:fillRect/>
          </a:stretch>
        </p:blipFill>
        <p:spPr>
          <a:xfrm>
            <a:off x="685800" y="1783080"/>
            <a:ext cx="7498079" cy="4072883"/>
          </a:xfrm>
          <a:prstGeom prst="rect">
            <a:avLst/>
          </a:prstGeom>
        </p:spPr>
      </p:pic>
      <p:sp>
        <p:nvSpPr>
          <p:cNvPr id="8" name="TextBox 7"/>
          <p:cNvSpPr txBox="1"/>
          <p:nvPr/>
        </p:nvSpPr>
        <p:spPr>
          <a:xfrm>
            <a:off x="594360" y="6080760"/>
            <a:ext cx="768096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a:rPr>
              <a:t>Reemplazar por el video resultados/demo/demo_pil.mp4 al editar en Canva</a:t>
            </a:r>
          </a:p>
        </p:txBody>
      </p:sp>
      <p:sp>
        <p:nvSpPr>
          <p:cNvPr id="9" name="TextBox 8"/>
          <p:cNvSpPr txBox="1"/>
          <p:nvPr/>
        </p:nvSpPr>
        <p:spPr>
          <a:xfrm>
            <a:off x="8595360" y="1783080"/>
            <a:ext cx="822960" cy="365760"/>
          </a:xfrm>
          <a:prstGeom prst="rect">
            <a:avLst/>
          </a:prstGeom>
          <a:noFill/>
        </p:spPr>
        <p:txBody>
          <a:bodyPr wrap="square" anchor="t" lIns="0" rIns="0" tIns="0" bIns="0">
            <a:spAutoFit/>
          </a:bodyPr>
          <a:lstStyle/>
          <a:p>
            <a:pPr algn="l">
              <a:lnSpc>
                <a:spcPct val="110000"/>
              </a:lnSpc>
            </a:pPr>
            <a:r>
              <a:rPr sz="1600" b="1">
                <a:solidFill>
                  <a:srgbClr val="0D6B70"/>
                </a:solidFill>
                <a:latin typeface="Roboto Mono"/>
              </a:rPr>
              <a:t>0.5 s</a:t>
            </a:r>
          </a:p>
        </p:txBody>
      </p:sp>
      <p:sp>
        <p:nvSpPr>
          <p:cNvPr id="10" name="TextBox 9"/>
          <p:cNvSpPr txBox="1"/>
          <p:nvPr/>
        </p:nvSpPr>
        <p:spPr>
          <a:xfrm>
            <a:off x="9418320" y="1783080"/>
            <a:ext cx="2286000" cy="731520"/>
          </a:xfrm>
          <a:prstGeom prst="rect">
            <a:avLst/>
          </a:prstGeom>
          <a:noFill/>
        </p:spPr>
        <p:txBody>
          <a:bodyPr wrap="square" anchor="t" lIns="0" rIns="0" tIns="0" bIns="0">
            <a:spAutoFit/>
          </a:bodyPr>
          <a:lstStyle/>
          <a:p>
            <a:pPr algn="l">
              <a:lnSpc>
                <a:spcPct val="100000"/>
              </a:lnSpc>
            </a:pPr>
            <a:r>
              <a:rPr sz="1400" b="0">
                <a:solidFill>
                  <a:srgbClr val="44575D"/>
                </a:solidFill>
                <a:latin typeface="Barlow"/>
              </a:rPr>
              <a:t>Escalón a 400 mm; el LED 13 marca la válvula saturada</a:t>
            </a:r>
          </a:p>
        </p:txBody>
      </p:sp>
      <p:sp>
        <p:nvSpPr>
          <p:cNvPr id="11" name="TextBox 10"/>
          <p:cNvSpPr txBox="1"/>
          <p:nvPr/>
        </p:nvSpPr>
        <p:spPr>
          <a:xfrm>
            <a:off x="8595360" y="2532888"/>
            <a:ext cx="822960" cy="365760"/>
          </a:xfrm>
          <a:prstGeom prst="rect">
            <a:avLst/>
          </a:prstGeom>
          <a:noFill/>
        </p:spPr>
        <p:txBody>
          <a:bodyPr wrap="square" anchor="t" lIns="0" rIns="0" tIns="0" bIns="0">
            <a:spAutoFit/>
          </a:bodyPr>
          <a:lstStyle/>
          <a:p>
            <a:pPr algn="l">
              <a:lnSpc>
                <a:spcPct val="110000"/>
              </a:lnSpc>
            </a:pPr>
            <a:r>
              <a:rPr sz="1600" b="1">
                <a:solidFill>
                  <a:srgbClr val="0D6B70"/>
                </a:solidFill>
                <a:latin typeface="Roboto Mono"/>
              </a:rPr>
              <a:t>3.5 s</a:t>
            </a:r>
          </a:p>
        </p:txBody>
      </p:sp>
      <p:sp>
        <p:nvSpPr>
          <p:cNvPr id="12" name="TextBox 11"/>
          <p:cNvSpPr txBox="1"/>
          <p:nvPr/>
        </p:nvSpPr>
        <p:spPr>
          <a:xfrm>
            <a:off x="9418320" y="2532888"/>
            <a:ext cx="2286000" cy="731520"/>
          </a:xfrm>
          <a:prstGeom prst="rect">
            <a:avLst/>
          </a:prstGeom>
          <a:noFill/>
        </p:spPr>
        <p:txBody>
          <a:bodyPr wrap="square" anchor="t" lIns="0" rIns="0" tIns="0" bIns="0">
            <a:spAutoFit/>
          </a:bodyPr>
          <a:lstStyle/>
          <a:p>
            <a:pPr algn="l">
              <a:lnSpc>
                <a:spcPct val="100000"/>
              </a:lnSpc>
            </a:pPr>
            <a:r>
              <a:rPr sz="1400" b="0">
                <a:solidFill>
                  <a:srgbClr val="44575D"/>
                </a:solidFill>
                <a:latin typeface="Barlow"/>
              </a:rPr>
              <a:t>Bajada a 150 mm</a:t>
            </a:r>
          </a:p>
        </p:txBody>
      </p:sp>
      <p:sp>
        <p:nvSpPr>
          <p:cNvPr id="13" name="TextBox 12"/>
          <p:cNvSpPr txBox="1"/>
          <p:nvPr/>
        </p:nvSpPr>
        <p:spPr>
          <a:xfrm>
            <a:off x="8595360" y="3282696"/>
            <a:ext cx="822960" cy="365760"/>
          </a:xfrm>
          <a:prstGeom prst="rect">
            <a:avLst/>
          </a:prstGeom>
          <a:noFill/>
        </p:spPr>
        <p:txBody>
          <a:bodyPr wrap="square" anchor="t" lIns="0" rIns="0" tIns="0" bIns="0">
            <a:spAutoFit/>
          </a:bodyPr>
          <a:lstStyle/>
          <a:p>
            <a:pPr algn="l">
              <a:lnSpc>
                <a:spcPct val="110000"/>
              </a:lnSpc>
            </a:pPr>
            <a:r>
              <a:rPr sz="1600" b="1">
                <a:solidFill>
                  <a:srgbClr val="0D6B70"/>
                </a:solidFill>
                <a:latin typeface="Roboto Mono"/>
              </a:rPr>
              <a:t>6.0 s</a:t>
            </a:r>
          </a:p>
        </p:txBody>
      </p:sp>
      <p:sp>
        <p:nvSpPr>
          <p:cNvPr id="14" name="TextBox 13"/>
          <p:cNvSpPr txBox="1"/>
          <p:nvPr/>
        </p:nvSpPr>
        <p:spPr>
          <a:xfrm>
            <a:off x="9418320" y="3282696"/>
            <a:ext cx="2286000" cy="731520"/>
          </a:xfrm>
          <a:prstGeom prst="rect">
            <a:avLst/>
          </a:prstGeom>
          <a:noFill/>
        </p:spPr>
        <p:txBody>
          <a:bodyPr wrap="square" anchor="t" lIns="0" rIns="0" tIns="0" bIns="0">
            <a:spAutoFit/>
          </a:bodyPr>
          <a:lstStyle/>
          <a:p>
            <a:pPr algn="l">
              <a:lnSpc>
                <a:spcPct val="100000"/>
              </a:lnSpc>
            </a:pPr>
            <a:r>
              <a:rPr sz="1400" b="0">
                <a:solidFill>
                  <a:srgbClr val="44575D"/>
                </a:solidFill>
                <a:latin typeface="Barlow"/>
              </a:rPr>
              <a:t>Subida a 300 mm</a:t>
            </a:r>
          </a:p>
        </p:txBody>
      </p:sp>
      <p:sp>
        <p:nvSpPr>
          <p:cNvPr id="15" name="TextBox 14"/>
          <p:cNvSpPr txBox="1"/>
          <p:nvPr/>
        </p:nvSpPr>
        <p:spPr>
          <a:xfrm>
            <a:off x="8595360" y="4032504"/>
            <a:ext cx="822960" cy="365760"/>
          </a:xfrm>
          <a:prstGeom prst="rect">
            <a:avLst/>
          </a:prstGeom>
          <a:noFill/>
        </p:spPr>
        <p:txBody>
          <a:bodyPr wrap="square" anchor="t" lIns="0" rIns="0" tIns="0" bIns="0">
            <a:spAutoFit/>
          </a:bodyPr>
          <a:lstStyle/>
          <a:p>
            <a:pPr algn="l">
              <a:lnSpc>
                <a:spcPct val="110000"/>
              </a:lnSpc>
            </a:pPr>
            <a:r>
              <a:rPr sz="1600" b="1">
                <a:solidFill>
                  <a:srgbClr val="C8440D"/>
                </a:solidFill>
                <a:latin typeface="Roboto Mono"/>
              </a:rPr>
              <a:t>7.0 s</a:t>
            </a:r>
          </a:p>
        </p:txBody>
      </p:sp>
      <p:sp>
        <p:nvSpPr>
          <p:cNvPr id="16" name="TextBox 15"/>
          <p:cNvSpPr txBox="1"/>
          <p:nvPr/>
        </p:nvSpPr>
        <p:spPr>
          <a:xfrm>
            <a:off x="9418320" y="4032504"/>
            <a:ext cx="2286000" cy="731520"/>
          </a:xfrm>
          <a:prstGeom prst="rect">
            <a:avLst/>
          </a:prstGeom>
          <a:noFill/>
        </p:spPr>
        <p:txBody>
          <a:bodyPr wrap="square" anchor="t" lIns="0" rIns="0" tIns="0" bIns="0">
            <a:spAutoFit/>
          </a:bodyPr>
          <a:lstStyle/>
          <a:p>
            <a:pPr algn="l">
              <a:lnSpc>
                <a:spcPct val="100000"/>
              </a:lnSpc>
            </a:pPr>
            <a:r>
              <a:rPr sz="1400" b="0">
                <a:solidFill>
                  <a:srgbClr val="44575D"/>
                </a:solidFill>
                <a:latin typeface="Barlow"/>
              </a:rPr>
              <a:t>Trama dañada a propósito: el Arduino la detecta y mantiene el último u</a:t>
            </a:r>
          </a:p>
        </p:txBody>
      </p:sp>
      <p:sp>
        <p:nvSpPr>
          <p:cNvPr id="17" name="Rounded Rectangle 16"/>
          <p:cNvSpPr/>
          <p:nvPr/>
        </p:nvSpPr>
        <p:spPr>
          <a:xfrm>
            <a:off x="8595360" y="4892040"/>
            <a:ext cx="3017520" cy="9144"/>
          </a:xfrm>
          <a:prstGeom prst="roundRect">
            <a:avLst>
              <a:gd name="adj" fmla="val 0"/>
            </a:avLst>
          </a:prstGeom>
          <a:solidFill>
            <a:srgbClr val="C7D1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95360" y="5029200"/>
            <a:ext cx="3108960" cy="548640"/>
          </a:xfrm>
          <a:prstGeom prst="rect">
            <a:avLst/>
          </a:prstGeom>
          <a:noFill/>
        </p:spPr>
        <p:txBody>
          <a:bodyPr wrap="square" anchor="t" lIns="0" rIns="0" tIns="0" bIns="0">
            <a:spAutoFit/>
          </a:bodyPr>
          <a:lstStyle/>
          <a:p>
            <a:pPr algn="l">
              <a:lnSpc>
                <a:spcPct val="110000"/>
              </a:lnSpc>
            </a:pPr>
            <a:r>
              <a:rPr sz="2800" b="1">
                <a:solidFill>
                  <a:srgbClr val="0F2129"/>
                </a:solidFill>
                <a:latin typeface="Barlow Condensed"/>
              </a:rPr>
              <a:t>2005</a:t>
            </a:r>
            <a:r>
              <a:rPr sz="1500" b="0">
                <a:solidFill>
                  <a:srgbClr val="0F2129"/>
                </a:solidFill>
                <a:latin typeface="Barlow"/>
              </a:rPr>
              <a:t>  tramas, 0 errores</a:t>
            </a:r>
          </a:p>
        </p:txBody>
      </p:sp>
      <p:sp>
        <p:nvSpPr>
          <p:cNvPr id="19" name="TextBox 18"/>
          <p:cNvSpPr txBox="1"/>
          <p:nvPr/>
        </p:nvSpPr>
        <p:spPr>
          <a:xfrm>
            <a:off x="8595360" y="5532120"/>
            <a:ext cx="3108960" cy="548640"/>
          </a:xfrm>
          <a:prstGeom prst="rect">
            <a:avLst/>
          </a:prstGeom>
          <a:noFill/>
        </p:spPr>
        <p:txBody>
          <a:bodyPr wrap="square" anchor="t" lIns="0" rIns="0" tIns="0" bIns="0">
            <a:spAutoFit/>
          </a:bodyPr>
          <a:lstStyle/>
          <a:p>
            <a:pPr algn="l">
              <a:lnSpc>
                <a:spcPct val="110000"/>
              </a:lnSpc>
            </a:pPr>
            <a:r>
              <a:rPr sz="2800" b="1">
                <a:solidFill>
                  <a:srgbClr val="0F2129"/>
                </a:solidFill>
                <a:latin typeface="Barlow Condensed"/>
              </a:rPr>
              <a:t>13 ms</a:t>
            </a:r>
            <a:r>
              <a:rPr sz="1500" b="0">
                <a:solidFill>
                  <a:srgbClr val="0F2129"/>
                </a:solidFill>
                <a:latin typeface="Barlow"/>
              </a:rPr>
              <a:t>  ida y vuelta promedio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594360" y="384048"/>
            <a:ext cx="7315200" cy="27432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CIERRE</a:t>
            </a:r>
          </a:p>
        </p:txBody>
      </p:sp>
      <p:sp>
        <p:nvSpPr>
          <p:cNvPr id="3" name="TextBox 2"/>
          <p:cNvSpPr txBox="1"/>
          <p:nvPr/>
        </p:nvSpPr>
        <p:spPr>
          <a:xfrm>
            <a:off x="594360" y="658368"/>
            <a:ext cx="10515600" cy="914400"/>
          </a:xfrm>
          <a:prstGeom prst="rect">
            <a:avLst/>
          </a:prstGeom>
          <a:noFill/>
        </p:spPr>
        <p:txBody>
          <a:bodyPr wrap="square" anchor="t" lIns="0" rIns="0" tIns="0" bIns="0">
            <a:spAutoFit/>
          </a:bodyPr>
          <a:lstStyle/>
          <a:p>
            <a:pPr algn="l">
              <a:lnSpc>
                <a:spcPct val="95000"/>
              </a:lnSpc>
            </a:pPr>
            <a:r>
              <a:rPr sz="3400" b="1">
                <a:solidFill>
                  <a:srgbClr val="0F2129"/>
                </a:solidFill>
                <a:latin typeface="Barlow Condensed"/>
              </a:rPr>
              <a:t>Qué logramos y qué sigue</a:t>
            </a:r>
          </a:p>
        </p:txBody>
      </p:sp>
      <p:sp>
        <p:nvSpPr>
          <p:cNvPr id="4" name="TextBox 3"/>
          <p:cNvSpPr txBox="1"/>
          <p:nvPr/>
        </p:nvSpPr>
        <p:spPr>
          <a:xfrm>
            <a:off x="10607040" y="6400800"/>
            <a:ext cx="1005840" cy="274320"/>
          </a:xfrm>
          <a:prstGeom prst="rect">
            <a:avLst/>
          </a:prstGeom>
          <a:noFill/>
        </p:spPr>
        <p:txBody>
          <a:bodyPr wrap="square" anchor="t" lIns="0" rIns="0" tIns="0" bIns="0">
            <a:spAutoFit/>
          </a:bodyPr>
          <a:lstStyle/>
          <a:p>
            <a:pPr algn="r">
              <a:lnSpc>
                <a:spcPct val="110000"/>
              </a:lnSpc>
            </a:pPr>
            <a:r>
              <a:rPr sz="1100" b="0">
                <a:solidFill>
                  <a:srgbClr val="6C7D82"/>
                </a:solidFill>
                <a:latin typeface="Barlow Condensed"/>
              </a:rPr>
              <a:t>11 / 11</a:t>
            </a:r>
          </a:p>
        </p:txBody>
      </p:sp>
      <p:sp>
        <p:nvSpPr>
          <p:cNvPr id="5" name="TextBox 4"/>
          <p:cNvSpPr txBox="1"/>
          <p:nvPr/>
        </p:nvSpPr>
        <p:spPr>
          <a:xfrm>
            <a:off x="594360" y="6400800"/>
            <a:ext cx="5486400" cy="274320"/>
          </a:xfrm>
          <a:prstGeom prst="rect">
            <a:avLst/>
          </a:prstGeom>
          <a:noFill/>
        </p:spPr>
        <p:txBody>
          <a:bodyPr wrap="square" anchor="t" lIns="0" rIns="0" tIns="0" bIns="0">
            <a:spAutoFit/>
          </a:bodyPr>
          <a:lstStyle/>
          <a:p>
            <a:pPr algn="l">
              <a:lnSpc>
                <a:spcPct val="110000"/>
              </a:lnSpc>
            </a:pPr>
            <a:r>
              <a:rPr sz="1100" b="0">
                <a:solidFill>
                  <a:srgbClr val="6C7D82"/>
                </a:solidFill>
                <a:latin typeface="Barlow Condensed"/>
              </a:rPr>
              <a:t>MARLUP · Processor-in-the-Loop</a:t>
            </a:r>
          </a:p>
        </p:txBody>
      </p:sp>
      <p:sp>
        <p:nvSpPr>
          <p:cNvPr id="6" name="TextBox 5"/>
          <p:cNvSpPr txBox="1"/>
          <p:nvPr/>
        </p:nvSpPr>
        <p:spPr>
          <a:xfrm>
            <a:off x="594360" y="1783080"/>
            <a:ext cx="5486400" cy="320040"/>
          </a:xfrm>
          <a:prstGeom prst="rect">
            <a:avLst/>
          </a:prstGeom>
          <a:noFill/>
        </p:spPr>
        <p:txBody>
          <a:bodyPr wrap="square" anchor="t" lIns="0" rIns="0" tIns="0" bIns="0">
            <a:spAutoFit/>
          </a:bodyPr>
          <a:lstStyle/>
          <a:p>
            <a:pPr algn="l">
              <a:lnSpc>
                <a:spcPct val="110000"/>
              </a:lnSpc>
            </a:pPr>
            <a:r>
              <a:rPr sz="1300" b="1">
                <a:solidFill>
                  <a:srgbClr val="1B7D3A"/>
                </a:solidFill>
                <a:latin typeface="Barlow Condensed"/>
              </a:rPr>
              <a:t>LOGRADO</a:t>
            </a:r>
          </a:p>
        </p:txBody>
      </p:sp>
      <p:sp>
        <p:nvSpPr>
          <p:cNvPr id="7" name="Oval 6"/>
          <p:cNvSpPr/>
          <p:nvPr/>
        </p:nvSpPr>
        <p:spPr>
          <a:xfrm>
            <a:off x="594360" y="2212848"/>
            <a:ext cx="457200" cy="457200"/>
          </a:xfrm>
          <a:prstGeom prst="ellipse">
            <a:avLst/>
          </a:prstGeom>
          <a:solidFill>
            <a:srgbClr val="1B7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Barlow"/>
              </a:rPr>
              <a:t>✓</a:t>
            </a:r>
          </a:p>
        </p:txBody>
      </p:sp>
      <p:sp>
        <p:nvSpPr>
          <p:cNvPr id="8" name="TextBox 7"/>
          <p:cNvSpPr txBox="1"/>
          <p:nvPr/>
        </p:nvSpPr>
        <p:spPr>
          <a:xfrm>
            <a:off x="1280160" y="2194560"/>
            <a:ext cx="4754880" cy="9144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El PI corre en un microcontrolador de 8 bits y responde igual que en el MiL</a:t>
            </a:r>
          </a:p>
        </p:txBody>
      </p:sp>
      <p:sp>
        <p:nvSpPr>
          <p:cNvPr id="9" name="Oval 8"/>
          <p:cNvSpPr/>
          <p:nvPr/>
        </p:nvSpPr>
        <p:spPr>
          <a:xfrm>
            <a:off x="594360" y="3264408"/>
            <a:ext cx="457200" cy="457200"/>
          </a:xfrm>
          <a:prstGeom prst="ellipse">
            <a:avLst/>
          </a:prstGeom>
          <a:solidFill>
            <a:srgbClr val="1B7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Barlow"/>
              </a:rPr>
              <a:t>✓</a:t>
            </a:r>
          </a:p>
        </p:txBody>
      </p:sp>
      <p:sp>
        <p:nvSpPr>
          <p:cNvPr id="10" name="TextBox 9"/>
          <p:cNvSpPr txBox="1"/>
          <p:nvPr/>
        </p:nvSpPr>
        <p:spPr>
          <a:xfrm>
            <a:off x="1280160" y="3246120"/>
            <a:ext cx="4754880" cy="9144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Dos implementaciones independientes llegan al mismo resultado</a:t>
            </a:r>
          </a:p>
        </p:txBody>
      </p:sp>
      <p:sp>
        <p:nvSpPr>
          <p:cNvPr id="11" name="Oval 10"/>
          <p:cNvSpPr/>
          <p:nvPr/>
        </p:nvSpPr>
        <p:spPr>
          <a:xfrm>
            <a:off x="594360" y="4315967"/>
            <a:ext cx="457200" cy="457200"/>
          </a:xfrm>
          <a:prstGeom prst="ellipse">
            <a:avLst/>
          </a:prstGeom>
          <a:solidFill>
            <a:srgbClr val="1B7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Barlow"/>
              </a:rPr>
              <a:t>✓</a:t>
            </a:r>
          </a:p>
        </p:txBody>
      </p:sp>
      <p:sp>
        <p:nvSpPr>
          <p:cNvPr id="12" name="TextBox 11"/>
          <p:cNvSpPr txBox="1"/>
          <p:nvPr/>
        </p:nvSpPr>
        <p:spPr>
          <a:xfrm>
            <a:off x="1280160" y="4297679"/>
            <a:ext cx="4754880" cy="9144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Con el sensor real cumple: e_ss 0.076 mm y Mp 3.47 %</a:t>
            </a:r>
          </a:p>
        </p:txBody>
      </p:sp>
      <p:sp>
        <p:nvSpPr>
          <p:cNvPr id="13" name="TextBox 12"/>
          <p:cNvSpPr txBox="1"/>
          <p:nvPr/>
        </p:nvSpPr>
        <p:spPr>
          <a:xfrm>
            <a:off x="6675120" y="1783080"/>
            <a:ext cx="4572000" cy="320040"/>
          </a:xfrm>
          <a:prstGeom prst="rect">
            <a:avLst/>
          </a:prstGeom>
          <a:noFill/>
        </p:spPr>
        <p:txBody>
          <a:bodyPr wrap="square" anchor="t" lIns="0" rIns="0" tIns="0" bIns="0">
            <a:spAutoFit/>
          </a:bodyPr>
          <a:lstStyle/>
          <a:p>
            <a:pPr algn="l">
              <a:lnSpc>
                <a:spcPct val="110000"/>
              </a:lnSpc>
            </a:pPr>
            <a:r>
              <a:rPr sz="1300" b="1">
                <a:solidFill>
                  <a:srgbClr val="0D6B70"/>
                </a:solidFill>
                <a:latin typeface="Barlow Condensed"/>
              </a:rPr>
              <a:t>SIGUIENTE</a:t>
            </a:r>
          </a:p>
        </p:txBody>
      </p:sp>
      <p:sp>
        <p:nvSpPr>
          <p:cNvPr id="14" name="Rounded Rectangle 13"/>
          <p:cNvSpPr/>
          <p:nvPr/>
        </p:nvSpPr>
        <p:spPr>
          <a:xfrm>
            <a:off x="6675120" y="2194560"/>
            <a:ext cx="54864" cy="822960"/>
          </a:xfrm>
          <a:prstGeom prst="roundRect">
            <a:avLst>
              <a:gd name="adj" fmla="val 0"/>
            </a:avLst>
          </a:prstGeom>
          <a:solidFill>
            <a:srgbClr val="0D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03720" y="2176272"/>
            <a:ext cx="4754880" cy="4572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PiL sobre el modelo completo en Simscape</a:t>
            </a:r>
          </a:p>
        </p:txBody>
      </p:sp>
      <p:sp>
        <p:nvSpPr>
          <p:cNvPr id="16" name="TextBox 15"/>
          <p:cNvSpPr txBox="1"/>
          <p:nvPr/>
        </p:nvSpPr>
        <p:spPr>
          <a:xfrm>
            <a:off x="6903720" y="2606040"/>
            <a:ext cx="4754880" cy="365760"/>
          </a:xfrm>
          <a:prstGeom prst="rect">
            <a:avLst/>
          </a:prstGeom>
          <a:noFill/>
        </p:spPr>
        <p:txBody>
          <a:bodyPr wrap="square" anchor="t" lIns="0" rIns="0" tIns="0" bIns="0">
            <a:spAutoFit/>
          </a:bodyPr>
          <a:lstStyle/>
          <a:p>
            <a:pPr algn="l">
              <a:lnSpc>
                <a:spcPct val="110000"/>
              </a:lnSpc>
            </a:pPr>
            <a:r>
              <a:rPr sz="1400" b="0">
                <a:solidFill>
                  <a:srgbClr val="6C7D82"/>
                </a:solidFill>
                <a:latin typeface="Barlow"/>
              </a:rPr>
              <a:t>En curso</a:t>
            </a:r>
          </a:p>
        </p:txBody>
      </p:sp>
      <p:sp>
        <p:nvSpPr>
          <p:cNvPr id="17" name="Rounded Rectangle 16"/>
          <p:cNvSpPr/>
          <p:nvPr/>
        </p:nvSpPr>
        <p:spPr>
          <a:xfrm>
            <a:off x="6675120" y="3246120"/>
            <a:ext cx="54864" cy="822960"/>
          </a:xfrm>
          <a:prstGeom prst="roundRect">
            <a:avLst>
              <a:gd name="adj" fmla="val 0"/>
            </a:avLst>
          </a:prstGeom>
          <a:solidFill>
            <a:srgbClr val="0D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3227832"/>
            <a:ext cx="4754880" cy="4572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Tres lazos en un mismo Arduino</a:t>
            </a:r>
          </a:p>
        </p:txBody>
      </p:sp>
      <p:sp>
        <p:nvSpPr>
          <p:cNvPr id="19" name="TextBox 18"/>
          <p:cNvSpPr txBox="1"/>
          <p:nvPr/>
        </p:nvSpPr>
        <p:spPr>
          <a:xfrm>
            <a:off x="6903720" y="3657600"/>
            <a:ext cx="4754880" cy="365760"/>
          </a:xfrm>
          <a:prstGeom prst="rect">
            <a:avLst/>
          </a:prstGeom>
          <a:noFill/>
        </p:spPr>
        <p:txBody>
          <a:bodyPr wrap="square" anchor="t" lIns="0" rIns="0" tIns="0" bIns="0">
            <a:spAutoFit/>
          </a:bodyPr>
          <a:lstStyle/>
          <a:p>
            <a:pPr algn="l">
              <a:lnSpc>
                <a:spcPct val="110000"/>
              </a:lnSpc>
            </a:pPr>
            <a:r>
              <a:rPr sz="1400" b="0">
                <a:solidFill>
                  <a:srgbClr val="6C7D82"/>
                </a:solidFill>
                <a:latin typeface="Barlow"/>
              </a:rPr>
              <a:t>24 B por paso ≈ 2.1 ms, cabe en 10 ms</a:t>
            </a:r>
          </a:p>
        </p:txBody>
      </p:sp>
      <p:sp>
        <p:nvSpPr>
          <p:cNvPr id="20" name="Rounded Rectangle 19"/>
          <p:cNvSpPr/>
          <p:nvPr/>
        </p:nvSpPr>
        <p:spPr>
          <a:xfrm>
            <a:off x="6675120" y="4297679"/>
            <a:ext cx="54864" cy="822960"/>
          </a:xfrm>
          <a:prstGeom prst="roundRect">
            <a:avLst>
              <a:gd name="adj" fmla="val 0"/>
            </a:avLst>
          </a:prstGeom>
          <a:solidFill>
            <a:srgbClr val="0D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03720" y="4279392"/>
            <a:ext cx="4754880" cy="457200"/>
          </a:xfrm>
          <a:prstGeom prst="rect">
            <a:avLst/>
          </a:prstGeom>
          <a:noFill/>
        </p:spPr>
        <p:txBody>
          <a:bodyPr wrap="square" anchor="t" lIns="0" rIns="0" tIns="0" bIns="0">
            <a:spAutoFit/>
          </a:bodyPr>
          <a:lstStyle/>
          <a:p>
            <a:pPr algn="l">
              <a:lnSpc>
                <a:spcPct val="100000"/>
              </a:lnSpc>
            </a:pPr>
            <a:r>
              <a:rPr sz="1900" b="0">
                <a:solidFill>
                  <a:srgbClr val="0F2129"/>
                </a:solidFill>
                <a:latin typeface="Barlow"/>
              </a:rPr>
              <a:t>Validar con oleaje</a:t>
            </a:r>
          </a:p>
        </p:txBody>
      </p:sp>
      <p:sp>
        <p:nvSpPr>
          <p:cNvPr id="22" name="TextBox 21"/>
          <p:cNvSpPr txBox="1"/>
          <p:nvPr/>
        </p:nvSpPr>
        <p:spPr>
          <a:xfrm>
            <a:off x="6903720" y="4709159"/>
            <a:ext cx="4754880" cy="365760"/>
          </a:xfrm>
          <a:prstGeom prst="rect">
            <a:avLst/>
          </a:prstGeom>
          <a:noFill/>
        </p:spPr>
        <p:txBody>
          <a:bodyPr wrap="square" anchor="t" lIns="0" rIns="0" tIns="0" bIns="0">
            <a:spAutoFit/>
          </a:bodyPr>
          <a:lstStyle/>
          <a:p>
            <a:pPr algn="l">
              <a:lnSpc>
                <a:spcPct val="110000"/>
              </a:lnSpc>
            </a:pPr>
            <a:r>
              <a:rPr sz="1400" b="0">
                <a:solidFill>
                  <a:srgbClr val="6C7D82"/>
                </a:solidFill>
                <a:latin typeface="Barlow"/>
              </a:rPr>
              <a:t>Medir el ángulo de la mesa contra 0.2°</a:t>
            </a:r>
          </a:p>
        </p:txBody>
      </p:sp>
      <p:sp>
        <p:nvSpPr>
          <p:cNvPr id="23" name="TextBox 22"/>
          <p:cNvSpPr txBox="1"/>
          <p:nvPr/>
        </p:nvSpPr>
        <p:spPr>
          <a:xfrm>
            <a:off x="594360" y="5577840"/>
            <a:ext cx="10972800" cy="548640"/>
          </a:xfrm>
          <a:prstGeom prst="rect">
            <a:avLst/>
          </a:prstGeom>
          <a:noFill/>
        </p:spPr>
        <p:txBody>
          <a:bodyPr wrap="square" anchor="t" lIns="0" rIns="0" tIns="0" bIns="0">
            <a:spAutoFit/>
          </a:bodyPr>
          <a:lstStyle/>
          <a:p>
            <a:pPr algn="l">
              <a:lnSpc>
                <a:spcPct val="110000"/>
              </a:lnSpc>
            </a:pPr>
            <a:r>
              <a:rPr sz="3000" b="1">
                <a:solidFill>
                  <a:srgbClr val="C8440D"/>
                </a:solidFill>
                <a:latin typeface="Barlow Condensed"/>
              </a:rPr>
              <a:t>¡Gracias!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